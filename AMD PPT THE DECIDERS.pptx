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50" b="0" i="0">
                <a:solidFill>
                  <a:srgbClr val="F1E78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F1E78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0" i="0">
                <a:solidFill>
                  <a:srgbClr val="F1E78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F1E78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8129250" cy="10287000"/>
          </a:xfrm>
          <a:custGeom>
            <a:avLst/>
            <a:gdLst/>
            <a:ahLst/>
            <a:cxnLst/>
            <a:rect l="l" t="t" r="r" b="b"/>
            <a:pathLst>
              <a:path w="18129250" h="10287000">
                <a:moveTo>
                  <a:pt x="18129199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129199" y="0"/>
                </a:lnTo>
                <a:lnTo>
                  <a:pt x="18129199" y="10287000"/>
                </a:lnTo>
                <a:close/>
              </a:path>
            </a:pathLst>
          </a:custGeom>
          <a:solidFill>
            <a:srgbClr val="1B1B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0" i="0">
                <a:solidFill>
                  <a:srgbClr val="F1E78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0" i="0">
                <a:solidFill>
                  <a:srgbClr val="F1E78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1B1B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7088" y="933693"/>
            <a:ext cx="13818133" cy="1288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50" b="0" i="0">
                <a:solidFill>
                  <a:srgbClr val="F1E78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9536" y="3544170"/>
            <a:ext cx="8827135" cy="3486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F1E78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430000" y="0"/>
            <a:ext cx="6858000" cy="10287000"/>
            <a:chOff x="11430000" y="0"/>
            <a:chExt cx="6858000" cy="10287000"/>
          </a:xfrm>
        </p:grpSpPr>
        <p:pic>
          <p:nvPicPr>
            <p:cNvPr id="3" name="object 3" descr="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49030" y="9686924"/>
              <a:ext cx="2153219" cy="51433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30000" y="0"/>
              <a:ext cx="6857999" cy="102869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79536" y="3115781"/>
            <a:ext cx="8396605" cy="873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980"/>
              <a:t>AMD</a:t>
            </a:r>
            <a:r>
              <a:rPr dirty="0" spc="75"/>
              <a:t> </a:t>
            </a:r>
            <a:r>
              <a:rPr dirty="0" spc="715"/>
              <a:t>AI</a:t>
            </a:r>
            <a:r>
              <a:rPr dirty="0" spc="80"/>
              <a:t> </a:t>
            </a:r>
            <a:r>
              <a:rPr dirty="0" spc="525"/>
              <a:t>Premier</a:t>
            </a:r>
            <a:r>
              <a:rPr dirty="0" spc="80"/>
              <a:t> </a:t>
            </a:r>
            <a:r>
              <a:rPr dirty="0" spc="560"/>
              <a:t>League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979536" y="4469810"/>
            <a:ext cx="9417685" cy="24745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50">
                <a:solidFill>
                  <a:srgbClr val="CFCBBE"/>
                </a:solidFill>
                <a:latin typeface="Trebuchet MS"/>
                <a:cs typeface="Trebuchet MS"/>
              </a:rPr>
              <a:t>Reinforcement</a:t>
            </a:r>
            <a:r>
              <a:rPr dirty="0" sz="2150" spc="-8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65">
                <a:solidFill>
                  <a:srgbClr val="CFCBBE"/>
                </a:solidFill>
                <a:latin typeface="Trebuchet MS"/>
                <a:cs typeface="Trebuchet MS"/>
              </a:rPr>
              <a:t>Learning</a:t>
            </a:r>
            <a:r>
              <a:rPr dirty="0" sz="2150" spc="-8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75">
                <a:solidFill>
                  <a:srgbClr val="CFCBBE"/>
                </a:solidFill>
                <a:latin typeface="Trebuchet MS"/>
                <a:cs typeface="Trebuchet MS"/>
              </a:rPr>
              <a:t>Hackathon</a:t>
            </a:r>
            <a:r>
              <a:rPr dirty="0" sz="2150" spc="-8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455">
                <a:solidFill>
                  <a:srgbClr val="CFCBBE"/>
                </a:solidFill>
                <a:latin typeface="Trebuchet MS"/>
                <a:cs typeface="Trebuchet MS"/>
              </a:rPr>
              <a:t>–</a:t>
            </a:r>
            <a:r>
              <a:rPr dirty="0" sz="2150" spc="-8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IIT</a:t>
            </a:r>
            <a:r>
              <a:rPr dirty="0" sz="2150" spc="-8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Delhi</a:t>
            </a:r>
            <a:endParaRPr sz="2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150">
              <a:latin typeface="Trebuchet MS"/>
              <a:cs typeface="Trebuchet MS"/>
            </a:endParaRPr>
          </a:p>
          <a:p>
            <a:pPr marL="12700" marR="5080">
              <a:lnSpc>
                <a:spcPct val="136600"/>
              </a:lnSpc>
              <a:spcBef>
                <a:spcPts val="5"/>
              </a:spcBef>
            </a:pPr>
            <a:r>
              <a:rPr dirty="0" sz="2150" spc="210">
                <a:solidFill>
                  <a:srgbClr val="CFCBBE"/>
                </a:solidFill>
                <a:latin typeface="Trebuchet MS"/>
                <a:cs typeface="Trebuchet MS"/>
              </a:rPr>
              <a:t>A</a:t>
            </a:r>
            <a:r>
              <a:rPr dirty="0" sz="2150" spc="1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competitive</a:t>
            </a:r>
            <a:r>
              <a:rPr dirty="0" sz="2150" spc="2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70">
                <a:solidFill>
                  <a:srgbClr val="CFCBBE"/>
                </a:solidFill>
                <a:latin typeface="Trebuchet MS"/>
                <a:cs typeface="Trebuchet MS"/>
              </a:rPr>
              <a:t>AI</a:t>
            </a:r>
            <a:r>
              <a:rPr dirty="0" sz="2150" spc="2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80">
                <a:solidFill>
                  <a:srgbClr val="CFCBBE"/>
                </a:solidFill>
                <a:latin typeface="Trebuchet MS"/>
                <a:cs typeface="Trebuchet MS"/>
              </a:rPr>
              <a:t>challenge</a:t>
            </a:r>
            <a:r>
              <a:rPr dirty="0" sz="2150" spc="2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requiring</a:t>
            </a:r>
            <a:r>
              <a:rPr dirty="0" sz="2150" spc="2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00">
                <a:solidFill>
                  <a:srgbClr val="CFCBBE"/>
                </a:solidFill>
                <a:latin typeface="Trebuchet MS"/>
                <a:cs typeface="Trebuchet MS"/>
              </a:rPr>
              <a:t>head-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to-</a:t>
            </a:r>
            <a:r>
              <a:rPr dirty="0" sz="2150" spc="95">
                <a:solidFill>
                  <a:srgbClr val="CFCBBE"/>
                </a:solidFill>
                <a:latin typeface="Trebuchet MS"/>
                <a:cs typeface="Trebuchet MS"/>
              </a:rPr>
              <a:t>head</a:t>
            </a:r>
            <a:r>
              <a:rPr dirty="0" sz="2150" spc="2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75">
                <a:solidFill>
                  <a:srgbClr val="CFCBBE"/>
                </a:solidFill>
                <a:latin typeface="Trebuchet MS"/>
                <a:cs typeface="Trebuchet MS"/>
              </a:rPr>
              <a:t>agent</a:t>
            </a:r>
            <a:r>
              <a:rPr dirty="0" sz="2150" spc="2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85">
                <a:solidFill>
                  <a:srgbClr val="CFCBBE"/>
                </a:solidFill>
                <a:latin typeface="Trebuchet MS"/>
                <a:cs typeface="Trebuchet MS"/>
              </a:rPr>
              <a:t>deployment</a:t>
            </a:r>
            <a:r>
              <a:rPr dirty="0" sz="2150" spc="1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90">
                <a:solidFill>
                  <a:srgbClr val="CFCBBE"/>
                </a:solidFill>
                <a:latin typeface="Trebuchet MS"/>
                <a:cs typeface="Trebuchet MS"/>
              </a:rPr>
              <a:t>on </a:t>
            </a:r>
            <a:r>
              <a:rPr dirty="0" sz="2150" spc="275">
                <a:solidFill>
                  <a:srgbClr val="CFCBBE"/>
                </a:solidFill>
                <a:latin typeface="Trebuchet MS"/>
                <a:cs typeface="Trebuchet MS"/>
              </a:rPr>
              <a:t>AMD</a:t>
            </a:r>
            <a:r>
              <a:rPr dirty="0" sz="2150" spc="-4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45">
                <a:solidFill>
                  <a:srgbClr val="CFCBBE"/>
                </a:solidFill>
                <a:latin typeface="Trebuchet MS"/>
                <a:cs typeface="Trebuchet MS"/>
              </a:rPr>
              <a:t>MI300</a:t>
            </a:r>
            <a:r>
              <a:rPr dirty="0" sz="2150" spc="-4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60">
                <a:solidFill>
                  <a:srgbClr val="CFCBBE"/>
                </a:solidFill>
                <a:latin typeface="Trebuchet MS"/>
                <a:cs typeface="Trebuchet MS"/>
              </a:rPr>
              <a:t>GPUs</a:t>
            </a:r>
            <a:r>
              <a:rPr dirty="0" sz="2150" spc="-4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with</a:t>
            </a:r>
            <a:r>
              <a:rPr dirty="0" sz="2150" spc="-3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50">
                <a:solidFill>
                  <a:srgbClr val="CFCBBE"/>
                </a:solidFill>
                <a:latin typeface="Trebuchet MS"/>
                <a:cs typeface="Trebuchet MS"/>
              </a:rPr>
              <a:t>constrained</a:t>
            </a:r>
            <a:r>
              <a:rPr dirty="0" sz="2150" spc="-4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local</a:t>
            </a:r>
            <a:r>
              <a:rPr dirty="0" sz="2150" spc="-4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45">
                <a:solidFill>
                  <a:srgbClr val="CFCBBE"/>
                </a:solidFill>
                <a:latin typeface="Trebuchet MS"/>
                <a:cs typeface="Trebuchet MS"/>
              </a:rPr>
              <a:t>models.</a:t>
            </a:r>
            <a:r>
              <a:rPr dirty="0" sz="2150" spc="-3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Participants</a:t>
            </a:r>
            <a:r>
              <a:rPr dirty="0" sz="2150" spc="-4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00">
                <a:solidFill>
                  <a:srgbClr val="CFCBBE"/>
                </a:solidFill>
                <a:latin typeface="Trebuchet MS"/>
                <a:cs typeface="Trebuchet MS"/>
              </a:rPr>
              <a:t>develop</a:t>
            </a:r>
            <a:r>
              <a:rPr dirty="0" sz="2150" spc="-4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25">
                <a:solidFill>
                  <a:srgbClr val="CFCBBE"/>
                </a:solidFill>
                <a:latin typeface="Trebuchet MS"/>
                <a:cs typeface="Trebuchet MS"/>
              </a:rPr>
              <a:t>Q- </a:t>
            </a:r>
            <a:r>
              <a:rPr dirty="0" sz="2150" spc="114">
                <a:solidFill>
                  <a:srgbClr val="CFCBBE"/>
                </a:solidFill>
                <a:latin typeface="Trebuchet MS"/>
                <a:cs typeface="Trebuchet MS"/>
              </a:rPr>
              <a:t>Agents</a:t>
            </a:r>
            <a:r>
              <a:rPr dirty="0" sz="2150" spc="-7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to</a:t>
            </a:r>
            <a:r>
              <a:rPr dirty="0" sz="2150" spc="-7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60">
                <a:solidFill>
                  <a:srgbClr val="CFCBBE"/>
                </a:solidFill>
                <a:latin typeface="Trebuchet MS"/>
                <a:cs typeface="Trebuchet MS"/>
              </a:rPr>
              <a:t>generate</a:t>
            </a:r>
            <a:r>
              <a:rPr dirty="0" sz="2150" spc="-7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75">
                <a:solidFill>
                  <a:srgbClr val="CFCBBE"/>
                </a:solidFill>
                <a:latin typeface="Trebuchet MS"/>
                <a:cs typeface="Trebuchet MS"/>
              </a:rPr>
              <a:t>challenging</a:t>
            </a:r>
            <a:r>
              <a:rPr dirty="0" sz="2150" spc="-7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229">
                <a:solidFill>
                  <a:srgbClr val="CFCBBE"/>
                </a:solidFill>
                <a:latin typeface="Trebuchet MS"/>
                <a:cs typeface="Trebuchet MS"/>
              </a:rPr>
              <a:t>MCQs</a:t>
            </a:r>
            <a:r>
              <a:rPr dirty="0" sz="2150" spc="-7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95">
                <a:solidFill>
                  <a:srgbClr val="CFCBBE"/>
                </a:solidFill>
                <a:latin typeface="Trebuchet MS"/>
                <a:cs typeface="Trebuchet MS"/>
              </a:rPr>
              <a:t>and</a:t>
            </a:r>
            <a:r>
              <a:rPr dirty="0" sz="2150" spc="-7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65">
                <a:solidFill>
                  <a:srgbClr val="CFCBBE"/>
                </a:solidFill>
                <a:latin typeface="Trebuchet MS"/>
                <a:cs typeface="Trebuchet MS"/>
              </a:rPr>
              <a:t>A-</a:t>
            </a:r>
            <a:r>
              <a:rPr dirty="0" sz="2150" spc="114">
                <a:solidFill>
                  <a:srgbClr val="CFCBBE"/>
                </a:solidFill>
                <a:latin typeface="Trebuchet MS"/>
                <a:cs typeface="Trebuchet MS"/>
              </a:rPr>
              <a:t>Agents</a:t>
            </a:r>
            <a:r>
              <a:rPr dirty="0" sz="2150" spc="-7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to</a:t>
            </a:r>
            <a:r>
              <a:rPr dirty="0" sz="2150" spc="-7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accurately</a:t>
            </a:r>
            <a:r>
              <a:rPr dirty="0" sz="2150" spc="53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80">
                <a:solidFill>
                  <a:srgbClr val="CFCBBE"/>
                </a:solidFill>
                <a:latin typeface="Trebuchet MS"/>
                <a:cs typeface="Trebuchet MS"/>
              </a:rPr>
              <a:t>answer</a:t>
            </a:r>
            <a:r>
              <a:rPr dirty="0" sz="2150" spc="-6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90">
                <a:solidFill>
                  <a:srgbClr val="CFCBBE"/>
                </a:solidFill>
                <a:latin typeface="Trebuchet MS"/>
                <a:cs typeface="Trebuchet MS"/>
              </a:rPr>
              <a:t>opponent</a:t>
            </a:r>
            <a:r>
              <a:rPr dirty="0" sz="2150" spc="-6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70">
                <a:solidFill>
                  <a:srgbClr val="CFCBBE"/>
                </a:solidFill>
                <a:latin typeface="Trebuchet MS"/>
                <a:cs typeface="Trebuchet MS"/>
              </a:rPr>
              <a:t>questions</a:t>
            </a:r>
            <a:r>
              <a:rPr dirty="0" sz="2150" spc="-6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75">
                <a:solidFill>
                  <a:srgbClr val="CFCBBE"/>
                </a:solidFill>
                <a:latin typeface="Trebuchet MS"/>
                <a:cs typeface="Trebuchet MS"/>
              </a:rPr>
              <a:t>under</a:t>
            </a:r>
            <a:r>
              <a:rPr dirty="0" sz="2150" spc="-6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25">
                <a:solidFill>
                  <a:srgbClr val="CFCBBE"/>
                </a:solidFill>
                <a:latin typeface="Trebuchet MS"/>
                <a:cs typeface="Trebuchet MS"/>
              </a:rPr>
              <a:t>strict</a:t>
            </a:r>
            <a:r>
              <a:rPr dirty="0" sz="2150" spc="-6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validation</a:t>
            </a:r>
            <a:r>
              <a:rPr dirty="0" sz="2150" spc="-6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rules.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77563" y="8813987"/>
            <a:ext cx="5170805" cy="4197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550" spc="495">
                <a:solidFill>
                  <a:srgbClr val="F1E781"/>
                </a:solidFill>
                <a:latin typeface="Calibri"/>
                <a:cs typeface="Calibri"/>
              </a:rPr>
              <a:t>TEAM</a:t>
            </a:r>
            <a:r>
              <a:rPr dirty="0" sz="2550" spc="40">
                <a:solidFill>
                  <a:srgbClr val="F1E781"/>
                </a:solidFill>
                <a:latin typeface="Calibri"/>
                <a:cs typeface="Calibri"/>
              </a:rPr>
              <a:t> </a:t>
            </a:r>
            <a:r>
              <a:rPr dirty="0" sz="2550" spc="465">
                <a:solidFill>
                  <a:srgbClr val="F1E781"/>
                </a:solidFill>
                <a:latin typeface="Calibri"/>
                <a:cs typeface="Calibri"/>
              </a:rPr>
              <a:t>NAME</a:t>
            </a:r>
            <a:r>
              <a:rPr dirty="0" sz="2550" spc="45">
                <a:solidFill>
                  <a:srgbClr val="F1E781"/>
                </a:solidFill>
                <a:latin typeface="Calibri"/>
                <a:cs typeface="Calibri"/>
              </a:rPr>
              <a:t> </a:t>
            </a:r>
            <a:r>
              <a:rPr dirty="0" sz="2550" spc="120">
                <a:solidFill>
                  <a:srgbClr val="F1E781"/>
                </a:solidFill>
                <a:latin typeface="Calibri"/>
                <a:cs typeface="Calibri"/>
              </a:rPr>
              <a:t>-</a:t>
            </a:r>
            <a:r>
              <a:rPr dirty="0" sz="2550" spc="45">
                <a:solidFill>
                  <a:srgbClr val="F1E781"/>
                </a:solidFill>
                <a:latin typeface="Calibri"/>
                <a:cs typeface="Calibri"/>
              </a:rPr>
              <a:t> </a:t>
            </a:r>
            <a:r>
              <a:rPr dirty="0" sz="2550" spc="600">
                <a:solidFill>
                  <a:srgbClr val="F1E781"/>
                </a:solidFill>
                <a:latin typeface="Calibri"/>
                <a:cs typeface="Calibri"/>
              </a:rPr>
              <a:t>THE</a:t>
            </a:r>
            <a:r>
              <a:rPr dirty="0" sz="2550" spc="45">
                <a:solidFill>
                  <a:srgbClr val="F1E781"/>
                </a:solidFill>
                <a:latin typeface="Calibri"/>
                <a:cs typeface="Calibri"/>
              </a:rPr>
              <a:t> </a:t>
            </a:r>
            <a:r>
              <a:rPr dirty="0" sz="2550" spc="535">
                <a:solidFill>
                  <a:srgbClr val="F1E781"/>
                </a:solidFill>
                <a:latin typeface="Calibri"/>
                <a:cs typeface="Calibri"/>
              </a:rPr>
              <a:t>DECIDERS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9536" y="2387563"/>
            <a:ext cx="15242540" cy="873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550"/>
              <a:t>Problem</a:t>
            </a:r>
            <a:r>
              <a:rPr dirty="0" spc="80"/>
              <a:t> </a:t>
            </a:r>
            <a:r>
              <a:rPr dirty="0" spc="425"/>
              <a:t>Statement</a:t>
            </a:r>
            <a:r>
              <a:rPr dirty="0" spc="85"/>
              <a:t> </a:t>
            </a:r>
            <a:r>
              <a:rPr dirty="0" spc="755"/>
              <a:t>&amp;</a:t>
            </a:r>
            <a:r>
              <a:rPr dirty="0" spc="80"/>
              <a:t> </a:t>
            </a:r>
            <a:r>
              <a:rPr dirty="0" spc="459"/>
              <a:t>Competition</a:t>
            </a:r>
            <a:r>
              <a:rPr dirty="0" spc="85"/>
              <a:t> </a:t>
            </a:r>
            <a:r>
              <a:rPr dirty="0" spc="440"/>
              <a:t>Objective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992238" y="3919089"/>
            <a:ext cx="5243830" cy="3902075"/>
          </a:xfrm>
          <a:custGeom>
            <a:avLst/>
            <a:gdLst/>
            <a:ahLst/>
            <a:cxnLst/>
            <a:rect l="l" t="t" r="r" b="b"/>
            <a:pathLst>
              <a:path w="5243830" h="3902075">
                <a:moveTo>
                  <a:pt x="5202943" y="3901825"/>
                </a:moveTo>
                <a:lnTo>
                  <a:pt x="42576" y="3901825"/>
                </a:lnTo>
                <a:lnTo>
                  <a:pt x="25997" y="3898581"/>
                </a:lnTo>
                <a:lnTo>
                  <a:pt x="12464" y="3889458"/>
                </a:lnTo>
                <a:lnTo>
                  <a:pt x="3342" y="3875924"/>
                </a:lnTo>
                <a:lnTo>
                  <a:pt x="0" y="3859344"/>
                </a:lnTo>
                <a:lnTo>
                  <a:pt x="0" y="42578"/>
                </a:lnTo>
                <a:lnTo>
                  <a:pt x="3342" y="25998"/>
                </a:lnTo>
                <a:lnTo>
                  <a:pt x="12464" y="12464"/>
                </a:lnTo>
                <a:lnTo>
                  <a:pt x="25997" y="3342"/>
                </a:lnTo>
                <a:lnTo>
                  <a:pt x="42576" y="0"/>
                </a:lnTo>
                <a:lnTo>
                  <a:pt x="5202943" y="0"/>
                </a:lnTo>
                <a:lnTo>
                  <a:pt x="5219523" y="3342"/>
                </a:lnTo>
                <a:lnTo>
                  <a:pt x="5233057" y="12464"/>
                </a:lnTo>
                <a:lnTo>
                  <a:pt x="5242179" y="25998"/>
                </a:lnTo>
                <a:lnTo>
                  <a:pt x="5243672" y="33401"/>
                </a:lnTo>
                <a:lnTo>
                  <a:pt x="5243672" y="3868521"/>
                </a:lnTo>
                <a:lnTo>
                  <a:pt x="5242179" y="3875924"/>
                </a:lnTo>
                <a:lnTo>
                  <a:pt x="5233057" y="3889458"/>
                </a:lnTo>
                <a:lnTo>
                  <a:pt x="5219523" y="3898581"/>
                </a:lnTo>
                <a:lnTo>
                  <a:pt x="5202943" y="3901825"/>
                </a:lnTo>
                <a:close/>
              </a:path>
            </a:pathLst>
          </a:custGeom>
          <a:solidFill>
            <a:srgbClr val="3A3B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263058" y="4146303"/>
            <a:ext cx="3973195" cy="3230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310">
                <a:solidFill>
                  <a:srgbClr val="CFCBBE"/>
                </a:solidFill>
                <a:latin typeface="Calibri"/>
                <a:cs typeface="Calibri"/>
              </a:rPr>
              <a:t>Q-</a:t>
            </a:r>
            <a:r>
              <a:rPr dirty="0" sz="2750" spc="204">
                <a:solidFill>
                  <a:srgbClr val="CFCBBE"/>
                </a:solidFill>
                <a:latin typeface="Calibri"/>
                <a:cs typeface="Calibri"/>
              </a:rPr>
              <a:t>Agent</a:t>
            </a:r>
            <a:r>
              <a:rPr dirty="0" sz="2750" spc="4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dirty="0" sz="2750" spc="229">
                <a:solidFill>
                  <a:srgbClr val="CFCBBE"/>
                </a:solidFill>
                <a:latin typeface="Calibri"/>
                <a:cs typeface="Calibri"/>
              </a:rPr>
              <a:t>Challenge</a:t>
            </a:r>
            <a:endParaRPr sz="2750">
              <a:latin typeface="Calibri"/>
              <a:cs typeface="Calibri"/>
            </a:endParaRPr>
          </a:p>
          <a:p>
            <a:pPr marL="12700" marR="5080">
              <a:lnSpc>
                <a:spcPct val="136600"/>
              </a:lnSpc>
              <a:spcBef>
                <a:spcPts val="780"/>
              </a:spcBef>
            </a:pP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Generate</a:t>
            </a:r>
            <a:r>
              <a:rPr dirty="0" sz="2150" spc="6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25">
                <a:solidFill>
                  <a:srgbClr val="CFCBBE"/>
                </a:solidFill>
                <a:latin typeface="Trebuchet MS"/>
                <a:cs typeface="Trebuchet MS"/>
              </a:rPr>
              <a:t>valid,</a:t>
            </a:r>
            <a:r>
              <a:rPr dirty="0" sz="2150" spc="5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65">
                <a:solidFill>
                  <a:srgbClr val="CFCBBE"/>
                </a:solidFill>
                <a:latin typeface="Trebuchet MS"/>
                <a:cs typeface="Trebuchet MS"/>
              </a:rPr>
              <a:t>challenging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multiple-</a:t>
            </a:r>
            <a:r>
              <a:rPr dirty="0" sz="2150" spc="75">
                <a:solidFill>
                  <a:srgbClr val="CFCBBE"/>
                </a:solidFill>
                <a:latin typeface="Trebuchet MS"/>
                <a:cs typeface="Trebuchet MS"/>
              </a:rPr>
              <a:t>choice</a:t>
            </a:r>
            <a:r>
              <a:rPr dirty="0" sz="2150" spc="8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70">
                <a:solidFill>
                  <a:srgbClr val="CFCBBE"/>
                </a:solidFill>
                <a:latin typeface="Trebuchet MS"/>
                <a:cs typeface="Trebuchet MS"/>
              </a:rPr>
              <a:t>questions</a:t>
            </a:r>
            <a:r>
              <a:rPr dirty="0" sz="2150" spc="8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20">
                <a:solidFill>
                  <a:srgbClr val="CFCBBE"/>
                </a:solidFill>
                <a:latin typeface="Trebuchet MS"/>
                <a:cs typeface="Trebuchet MS"/>
              </a:rPr>
              <a:t>that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maximize</a:t>
            </a:r>
            <a:r>
              <a:rPr dirty="0" sz="2150" spc="1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90">
                <a:solidFill>
                  <a:srgbClr val="CFCBBE"/>
                </a:solidFill>
                <a:latin typeface="Trebuchet MS"/>
                <a:cs typeface="Trebuchet MS"/>
              </a:rPr>
              <a:t>opponent</a:t>
            </a:r>
            <a:r>
              <a:rPr dirty="0" sz="2150" spc="2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error</a:t>
            </a:r>
            <a:r>
              <a:rPr dirty="0" sz="2150" spc="2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rates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while</a:t>
            </a:r>
            <a:r>
              <a:rPr dirty="0" sz="2150" spc="6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maintaining</a:t>
            </a:r>
            <a:r>
              <a:rPr dirty="0" sz="2150" spc="6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90">
                <a:latin typeface="Trebuchet MS"/>
                <a:cs typeface="Trebuchet MS"/>
              </a:rPr>
              <a:t>≥50%</a:t>
            </a:r>
            <a:r>
              <a:rPr dirty="0" sz="2150" spc="55">
                <a:latin typeface="Trebuchet MS"/>
                <a:cs typeface="Trebuchet MS"/>
              </a:rPr>
              <a:t> </a:t>
            </a:r>
            <a:r>
              <a:rPr dirty="0" sz="2150" spc="-10">
                <a:latin typeface="Trebuchet MS"/>
                <a:cs typeface="Trebuchet MS"/>
              </a:rPr>
              <a:t>format </a:t>
            </a:r>
            <a:r>
              <a:rPr dirty="0" sz="2150" spc="65">
                <a:latin typeface="Trebuchet MS"/>
                <a:cs typeface="Trebuchet MS"/>
              </a:rPr>
              <a:t>correctness</a:t>
            </a:r>
            <a:r>
              <a:rPr dirty="0" sz="2150" spc="-80">
                <a:latin typeface="Trebuchet MS"/>
                <a:cs typeface="Trebuchet MS"/>
              </a:rPr>
              <a:t> </a:t>
            </a:r>
            <a:r>
              <a:rPr dirty="0" sz="2150" spc="75">
                <a:solidFill>
                  <a:srgbClr val="CFCBBE"/>
                </a:solidFill>
                <a:latin typeface="Trebuchet MS"/>
                <a:cs typeface="Trebuchet MS"/>
              </a:rPr>
              <a:t>under</a:t>
            </a:r>
            <a:r>
              <a:rPr dirty="0" sz="2150" spc="-8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25">
                <a:solidFill>
                  <a:srgbClr val="CFCBBE"/>
                </a:solidFill>
                <a:latin typeface="Trebuchet MS"/>
                <a:cs typeface="Trebuchet MS"/>
              </a:rPr>
              <a:t>strict</a:t>
            </a:r>
            <a:r>
              <a:rPr dirty="0" sz="2150" spc="-8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70">
                <a:solidFill>
                  <a:srgbClr val="CFCBBE"/>
                </a:solidFill>
                <a:latin typeface="Trebuchet MS"/>
                <a:cs typeface="Trebuchet MS"/>
              </a:rPr>
              <a:t>JSON </a:t>
            </a:r>
            <a:r>
              <a:rPr dirty="0" sz="2150" spc="125">
                <a:solidFill>
                  <a:srgbClr val="CFCBBE"/>
                </a:solidFill>
                <a:latin typeface="Trebuchet MS"/>
                <a:cs typeface="Trebuchet MS"/>
              </a:rPr>
              <a:t>schema</a:t>
            </a:r>
            <a:r>
              <a:rPr dirty="0" sz="2150" spc="-9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validation.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521205" y="3919089"/>
            <a:ext cx="5243830" cy="3902075"/>
          </a:xfrm>
          <a:custGeom>
            <a:avLst/>
            <a:gdLst/>
            <a:ahLst/>
            <a:cxnLst/>
            <a:rect l="l" t="t" r="r" b="b"/>
            <a:pathLst>
              <a:path w="5243830" h="3902075">
                <a:moveTo>
                  <a:pt x="5202925" y="3901825"/>
                </a:moveTo>
                <a:lnTo>
                  <a:pt x="42570" y="3901825"/>
                </a:lnTo>
                <a:lnTo>
                  <a:pt x="25990" y="3898581"/>
                </a:lnTo>
                <a:lnTo>
                  <a:pt x="12456" y="3889458"/>
                </a:lnTo>
                <a:lnTo>
                  <a:pt x="3334" y="3875924"/>
                </a:lnTo>
                <a:lnTo>
                  <a:pt x="0" y="3859344"/>
                </a:lnTo>
                <a:lnTo>
                  <a:pt x="0" y="42578"/>
                </a:lnTo>
                <a:lnTo>
                  <a:pt x="3334" y="25998"/>
                </a:lnTo>
                <a:lnTo>
                  <a:pt x="12456" y="12464"/>
                </a:lnTo>
                <a:lnTo>
                  <a:pt x="25990" y="3342"/>
                </a:lnTo>
                <a:lnTo>
                  <a:pt x="42570" y="0"/>
                </a:lnTo>
                <a:lnTo>
                  <a:pt x="5202925" y="0"/>
                </a:lnTo>
                <a:lnTo>
                  <a:pt x="5219505" y="3342"/>
                </a:lnTo>
                <a:lnTo>
                  <a:pt x="5233039" y="12464"/>
                </a:lnTo>
                <a:lnTo>
                  <a:pt x="5242162" y="25998"/>
                </a:lnTo>
                <a:lnTo>
                  <a:pt x="5243672" y="33488"/>
                </a:lnTo>
                <a:lnTo>
                  <a:pt x="5243672" y="3868434"/>
                </a:lnTo>
                <a:lnTo>
                  <a:pt x="5242162" y="3875924"/>
                </a:lnTo>
                <a:lnTo>
                  <a:pt x="5233039" y="3889458"/>
                </a:lnTo>
                <a:lnTo>
                  <a:pt x="5219505" y="3898581"/>
                </a:lnTo>
                <a:lnTo>
                  <a:pt x="5202925" y="3901825"/>
                </a:lnTo>
                <a:close/>
              </a:path>
            </a:pathLst>
          </a:custGeom>
          <a:solidFill>
            <a:srgbClr val="3A3B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792021" y="4146303"/>
            <a:ext cx="4206875" cy="3230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40">
                <a:solidFill>
                  <a:srgbClr val="CFCBBE"/>
                </a:solidFill>
                <a:latin typeface="Calibri"/>
                <a:cs typeface="Calibri"/>
              </a:rPr>
              <a:t>A-</a:t>
            </a:r>
            <a:r>
              <a:rPr dirty="0" sz="2750" spc="204">
                <a:solidFill>
                  <a:srgbClr val="CFCBBE"/>
                </a:solidFill>
                <a:latin typeface="Calibri"/>
                <a:cs typeface="Calibri"/>
              </a:rPr>
              <a:t>Agent</a:t>
            </a:r>
            <a:r>
              <a:rPr dirty="0" sz="2750" spc="4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dirty="0" sz="2750" spc="310">
                <a:solidFill>
                  <a:srgbClr val="CFCBBE"/>
                </a:solidFill>
                <a:latin typeface="Calibri"/>
                <a:cs typeface="Calibri"/>
              </a:rPr>
              <a:t>Task</a:t>
            </a:r>
            <a:endParaRPr sz="2750">
              <a:latin typeface="Calibri"/>
              <a:cs typeface="Calibri"/>
            </a:endParaRPr>
          </a:p>
          <a:p>
            <a:pPr marL="12700" marR="5080">
              <a:lnSpc>
                <a:spcPct val="136600"/>
              </a:lnSpc>
              <a:spcBef>
                <a:spcPts val="780"/>
              </a:spcBef>
            </a:pPr>
            <a:r>
              <a:rPr dirty="0" sz="2150" spc="60">
                <a:solidFill>
                  <a:srgbClr val="CFCBBE"/>
                </a:solidFill>
                <a:latin typeface="Trebuchet MS"/>
                <a:cs typeface="Trebuchet MS"/>
              </a:rPr>
              <a:t>Maximize</a:t>
            </a:r>
            <a:r>
              <a:rPr dirty="0" sz="2150" spc="-4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correct</a:t>
            </a:r>
            <a:r>
              <a:rPr dirty="0" sz="2150" spc="-3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80">
                <a:solidFill>
                  <a:srgbClr val="CFCBBE"/>
                </a:solidFill>
                <a:latin typeface="Trebuchet MS"/>
                <a:cs typeface="Trebuchet MS"/>
              </a:rPr>
              <a:t>answer</a:t>
            </a:r>
            <a:r>
              <a:rPr dirty="0" sz="2150" spc="-3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rate</a:t>
            </a:r>
            <a:r>
              <a:rPr dirty="0" sz="2150" spc="-4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90">
                <a:solidFill>
                  <a:srgbClr val="CFCBBE"/>
                </a:solidFill>
                <a:latin typeface="Trebuchet MS"/>
                <a:cs typeface="Trebuchet MS"/>
              </a:rPr>
              <a:t>on opponent-</a:t>
            </a:r>
            <a:r>
              <a:rPr dirty="0" sz="2150" spc="70">
                <a:solidFill>
                  <a:srgbClr val="CFCBBE"/>
                </a:solidFill>
                <a:latin typeface="Trebuchet MS"/>
                <a:cs typeface="Trebuchet MS"/>
              </a:rPr>
              <a:t>generated</a:t>
            </a:r>
            <a:r>
              <a:rPr dirty="0" sz="2150" spc="-3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60">
                <a:solidFill>
                  <a:srgbClr val="CFCBBE"/>
                </a:solidFill>
                <a:latin typeface="Trebuchet MS"/>
                <a:cs typeface="Trebuchet MS"/>
              </a:rPr>
              <a:t>questions </a:t>
            </a:r>
            <a:r>
              <a:rPr dirty="0" sz="2150" spc="70">
                <a:solidFill>
                  <a:srgbClr val="CFCBBE"/>
                </a:solidFill>
                <a:latin typeface="Trebuchet MS"/>
                <a:cs typeface="Trebuchet MS"/>
              </a:rPr>
              <a:t>through</a:t>
            </a:r>
            <a:r>
              <a:rPr dirty="0" sz="2150" spc="8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optimized</a:t>
            </a:r>
            <a:r>
              <a:rPr dirty="0" sz="2150" spc="9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inference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strategies, </a:t>
            </a:r>
            <a:r>
              <a:rPr dirty="0" sz="2150" spc="95">
                <a:solidFill>
                  <a:srgbClr val="CFCBBE"/>
                </a:solidFill>
                <a:latin typeface="Trebuchet MS"/>
                <a:cs typeface="Trebuchet MS"/>
              </a:rPr>
              <a:t>low-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temperature </a:t>
            </a:r>
            <a:r>
              <a:rPr dirty="0" sz="2150" spc="45">
                <a:solidFill>
                  <a:srgbClr val="CFCBBE"/>
                </a:solidFill>
                <a:latin typeface="Trebuchet MS"/>
                <a:cs typeface="Trebuchet MS"/>
              </a:rPr>
              <a:t>sampling,</a:t>
            </a:r>
            <a:r>
              <a:rPr dirty="0" sz="2150" spc="-8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95">
                <a:solidFill>
                  <a:srgbClr val="CFCBBE"/>
                </a:solidFill>
                <a:latin typeface="Trebuchet MS"/>
                <a:cs typeface="Trebuchet MS"/>
              </a:rPr>
              <a:t>and</a:t>
            </a:r>
            <a:r>
              <a:rPr dirty="0" sz="2150" spc="-8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deterministic </a:t>
            </a:r>
            <a:r>
              <a:rPr dirty="0" sz="2150" spc="100">
                <a:solidFill>
                  <a:srgbClr val="CFCBBE"/>
                </a:solidFill>
                <a:latin typeface="Trebuchet MS"/>
                <a:cs typeface="Trebuchet MS"/>
              </a:rPr>
              <a:t>response</a:t>
            </a:r>
            <a:r>
              <a:rPr dirty="0" sz="2150" spc="-6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generation.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2050162" y="3919089"/>
            <a:ext cx="5243830" cy="3902075"/>
          </a:xfrm>
          <a:custGeom>
            <a:avLst/>
            <a:gdLst/>
            <a:ahLst/>
            <a:cxnLst/>
            <a:rect l="l" t="t" r="r" b="b"/>
            <a:pathLst>
              <a:path w="5243830" h="3902075">
                <a:moveTo>
                  <a:pt x="5202948" y="3901825"/>
                </a:moveTo>
                <a:lnTo>
                  <a:pt x="42563" y="3901825"/>
                </a:lnTo>
                <a:lnTo>
                  <a:pt x="26000" y="3898581"/>
                </a:lnTo>
                <a:lnTo>
                  <a:pt x="12475" y="3889458"/>
                </a:lnTo>
                <a:lnTo>
                  <a:pt x="3356" y="3875924"/>
                </a:lnTo>
                <a:lnTo>
                  <a:pt x="0" y="3859344"/>
                </a:lnTo>
                <a:lnTo>
                  <a:pt x="0" y="42578"/>
                </a:lnTo>
                <a:lnTo>
                  <a:pt x="3356" y="25998"/>
                </a:lnTo>
                <a:lnTo>
                  <a:pt x="12475" y="12464"/>
                </a:lnTo>
                <a:lnTo>
                  <a:pt x="26000" y="3342"/>
                </a:lnTo>
                <a:lnTo>
                  <a:pt x="42563" y="0"/>
                </a:lnTo>
                <a:lnTo>
                  <a:pt x="5202948" y="0"/>
                </a:lnTo>
                <a:lnTo>
                  <a:pt x="5219511" y="3342"/>
                </a:lnTo>
                <a:lnTo>
                  <a:pt x="5233036" y="12464"/>
                </a:lnTo>
                <a:lnTo>
                  <a:pt x="5242155" y="25998"/>
                </a:lnTo>
                <a:lnTo>
                  <a:pt x="5243672" y="33524"/>
                </a:lnTo>
                <a:lnTo>
                  <a:pt x="5243672" y="3868398"/>
                </a:lnTo>
                <a:lnTo>
                  <a:pt x="5242155" y="3875924"/>
                </a:lnTo>
                <a:lnTo>
                  <a:pt x="5233036" y="3889458"/>
                </a:lnTo>
                <a:lnTo>
                  <a:pt x="5219511" y="3898581"/>
                </a:lnTo>
                <a:lnTo>
                  <a:pt x="5202948" y="3901825"/>
                </a:lnTo>
                <a:close/>
              </a:path>
            </a:pathLst>
          </a:custGeom>
          <a:solidFill>
            <a:srgbClr val="3A3B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2320971" y="4146303"/>
            <a:ext cx="4661535" cy="3230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15">
                <a:solidFill>
                  <a:srgbClr val="CFCBBE"/>
                </a:solidFill>
                <a:latin typeface="Calibri"/>
                <a:cs typeface="Calibri"/>
              </a:rPr>
              <a:t>Constraints</a:t>
            </a:r>
            <a:endParaRPr sz="2750">
              <a:latin typeface="Calibri"/>
              <a:cs typeface="Calibri"/>
            </a:endParaRPr>
          </a:p>
          <a:p>
            <a:pPr marL="12700" marR="5080">
              <a:lnSpc>
                <a:spcPct val="136600"/>
              </a:lnSpc>
              <a:spcBef>
                <a:spcPts val="780"/>
              </a:spcBef>
            </a:pPr>
            <a:r>
              <a:rPr dirty="0" sz="2150" spc="85">
                <a:solidFill>
                  <a:srgbClr val="CFCBBE"/>
                </a:solidFill>
                <a:latin typeface="Trebuchet MS"/>
                <a:cs typeface="Trebuchet MS"/>
              </a:rPr>
              <a:t>English-</a:t>
            </a:r>
            <a:r>
              <a:rPr dirty="0" sz="2150" spc="75">
                <a:solidFill>
                  <a:srgbClr val="CFCBBE"/>
                </a:solidFill>
                <a:latin typeface="Trebuchet MS"/>
                <a:cs typeface="Trebuchet MS"/>
              </a:rPr>
              <a:t>only</a:t>
            </a:r>
            <a:r>
              <a:rPr dirty="0" sz="2150" spc="-8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70">
                <a:solidFill>
                  <a:srgbClr val="CFCBBE"/>
                </a:solidFill>
                <a:latin typeface="Trebuchet MS"/>
                <a:cs typeface="Trebuchet MS"/>
              </a:rPr>
              <a:t>responses,</a:t>
            </a:r>
            <a:r>
              <a:rPr dirty="0" sz="2150" spc="-8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14">
                <a:solidFill>
                  <a:srgbClr val="CFCBBE"/>
                </a:solidFill>
                <a:latin typeface="Trebuchet MS"/>
                <a:cs typeface="Trebuchet MS"/>
              </a:rPr>
              <a:t>no</a:t>
            </a:r>
            <a:r>
              <a:rPr dirty="0" sz="2150" spc="-8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external </a:t>
            </a:r>
            <a:r>
              <a:rPr dirty="0" sz="2150" spc="114">
                <a:solidFill>
                  <a:srgbClr val="CFCBBE"/>
                </a:solidFill>
                <a:latin typeface="Trebuchet MS"/>
                <a:cs typeface="Trebuchet MS"/>
              </a:rPr>
              <a:t>APIs</a:t>
            </a:r>
            <a:r>
              <a:rPr dirty="0" sz="2150" spc="-3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or</a:t>
            </a:r>
            <a:r>
              <a:rPr dirty="0" sz="2150" spc="-3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60">
                <a:solidFill>
                  <a:srgbClr val="CFCBBE"/>
                </a:solidFill>
                <a:latin typeface="Trebuchet MS"/>
                <a:cs typeface="Trebuchet MS"/>
              </a:rPr>
              <a:t>RAG</a:t>
            </a:r>
            <a:r>
              <a:rPr dirty="0" sz="2150" spc="-3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14">
                <a:solidFill>
                  <a:srgbClr val="CFCBBE"/>
                </a:solidFill>
                <a:latin typeface="Trebuchet MS"/>
                <a:cs typeface="Trebuchet MS"/>
              </a:rPr>
              <a:t>systems</a:t>
            </a:r>
            <a:r>
              <a:rPr dirty="0" sz="2150" spc="-3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allowed,</a:t>
            </a:r>
            <a:r>
              <a:rPr dirty="0" sz="2150" spc="-3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local </a:t>
            </a:r>
            <a:r>
              <a:rPr dirty="0" sz="2150" spc="130">
                <a:solidFill>
                  <a:srgbClr val="CFCBBE"/>
                </a:solidFill>
                <a:latin typeface="Trebuchet MS"/>
                <a:cs typeface="Trebuchet MS"/>
              </a:rPr>
              <a:t>HuggingFace</a:t>
            </a:r>
            <a:r>
              <a:rPr dirty="0" sz="2150" spc="-6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20">
                <a:solidFill>
                  <a:srgbClr val="CFCBBE"/>
                </a:solidFill>
                <a:latin typeface="Trebuchet MS"/>
                <a:cs typeface="Trebuchet MS"/>
              </a:rPr>
              <a:t>models</a:t>
            </a:r>
            <a:r>
              <a:rPr dirty="0" sz="2150" spc="-6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only,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competitive</a:t>
            </a:r>
            <a:r>
              <a:rPr dirty="0" sz="2150" spc="27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evaluation</a:t>
            </a:r>
            <a:r>
              <a:rPr dirty="0" sz="2150" spc="28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20">
                <a:solidFill>
                  <a:srgbClr val="CFCBBE"/>
                </a:solidFill>
                <a:latin typeface="Trebuchet MS"/>
                <a:cs typeface="Trebuchet MS"/>
              </a:rPr>
              <a:t>with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automatic</a:t>
            </a:r>
            <a:r>
              <a:rPr dirty="0" sz="2150" spc="7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disqualification</a:t>
            </a:r>
            <a:r>
              <a:rPr dirty="0" sz="2150" spc="7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for</a:t>
            </a:r>
            <a:r>
              <a:rPr dirty="0" sz="2150" spc="7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format violations.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887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110"/>
              </a:spcBef>
            </a:pPr>
            <a:r>
              <a:rPr dirty="0" spc="535"/>
              <a:t>System</a:t>
            </a:r>
            <a:r>
              <a:rPr dirty="0" spc="75"/>
              <a:t> </a:t>
            </a:r>
            <a:r>
              <a:rPr dirty="0" spc="445"/>
              <a:t>Architecture</a:t>
            </a:r>
            <a:r>
              <a:rPr dirty="0" spc="75"/>
              <a:t> </a:t>
            </a:r>
            <a:r>
              <a:rPr dirty="0" spc="755"/>
              <a:t>&amp;</a:t>
            </a:r>
            <a:r>
              <a:rPr dirty="0" spc="80"/>
              <a:t> </a:t>
            </a:r>
            <a:r>
              <a:rPr dirty="0" spc="545"/>
              <a:t>Training</a:t>
            </a:r>
            <a:r>
              <a:rPr dirty="0" spc="75"/>
              <a:t> </a:t>
            </a:r>
            <a:r>
              <a:rPr dirty="0" spc="459"/>
              <a:t>Pipeline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79536" y="2834942"/>
            <a:ext cx="4786630" cy="29864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25">
                <a:solidFill>
                  <a:srgbClr val="CFCBBE"/>
                </a:solidFill>
                <a:latin typeface="Calibri"/>
                <a:cs typeface="Calibri"/>
              </a:rPr>
              <a:t>01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05"/>
              </a:spcBef>
            </a:pPr>
            <a:r>
              <a:rPr dirty="0" sz="2750" spc="290">
                <a:solidFill>
                  <a:srgbClr val="CFCBBE"/>
                </a:solidFill>
                <a:latin typeface="Calibri"/>
                <a:cs typeface="Calibri"/>
              </a:rPr>
              <a:t>Base</a:t>
            </a:r>
            <a:r>
              <a:rPr dirty="0" sz="2750" spc="45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dirty="0" sz="2750" spc="245">
                <a:solidFill>
                  <a:srgbClr val="CFCBBE"/>
                </a:solidFill>
                <a:latin typeface="Calibri"/>
                <a:cs typeface="Calibri"/>
              </a:rPr>
              <a:t>Model</a:t>
            </a:r>
            <a:r>
              <a:rPr dirty="0" sz="2750" spc="45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dirty="0" sz="2750" spc="215">
                <a:solidFill>
                  <a:srgbClr val="CFCBBE"/>
                </a:solidFill>
                <a:latin typeface="Calibri"/>
                <a:cs typeface="Calibri"/>
              </a:rPr>
              <a:t>Selection</a:t>
            </a:r>
            <a:endParaRPr sz="2750">
              <a:latin typeface="Calibri"/>
              <a:cs typeface="Calibri"/>
            </a:endParaRPr>
          </a:p>
          <a:p>
            <a:pPr marL="12700" marR="5080">
              <a:lnSpc>
                <a:spcPct val="136600"/>
              </a:lnSpc>
              <a:spcBef>
                <a:spcPts val="785"/>
              </a:spcBef>
            </a:pPr>
            <a:r>
              <a:rPr dirty="0" sz="2150" spc="130">
                <a:solidFill>
                  <a:srgbClr val="CFCBBE"/>
                </a:solidFill>
                <a:latin typeface="Trebuchet MS"/>
                <a:cs typeface="Trebuchet MS"/>
              </a:rPr>
              <a:t>Qwen-</a:t>
            </a:r>
            <a:r>
              <a:rPr dirty="0" sz="2150" spc="120">
                <a:solidFill>
                  <a:srgbClr val="CFCBBE"/>
                </a:solidFill>
                <a:latin typeface="Trebuchet MS"/>
                <a:cs typeface="Trebuchet MS"/>
              </a:rPr>
              <a:t>based</a:t>
            </a:r>
            <a:r>
              <a:rPr dirty="0" sz="2150" spc="-7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95">
                <a:solidFill>
                  <a:srgbClr val="CFCBBE"/>
                </a:solidFill>
                <a:latin typeface="Trebuchet MS"/>
                <a:cs typeface="Trebuchet MS"/>
              </a:rPr>
              <a:t>and</a:t>
            </a:r>
            <a:r>
              <a:rPr dirty="0" sz="2150" spc="-7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85">
                <a:solidFill>
                  <a:srgbClr val="CFCBBE"/>
                </a:solidFill>
                <a:latin typeface="Trebuchet MS"/>
                <a:cs typeface="Trebuchet MS"/>
              </a:rPr>
              <a:t>LLaMA-</a:t>
            </a:r>
            <a:r>
              <a:rPr dirty="0" sz="2150" spc="100">
                <a:solidFill>
                  <a:srgbClr val="CFCBBE"/>
                </a:solidFill>
                <a:latin typeface="Trebuchet MS"/>
                <a:cs typeface="Trebuchet MS"/>
              </a:rPr>
              <a:t>based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architectures</a:t>
            </a:r>
            <a:r>
              <a:rPr dirty="0" sz="2150" spc="1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20">
                <a:solidFill>
                  <a:srgbClr val="CFCBBE"/>
                </a:solidFill>
                <a:latin typeface="Trebuchet MS"/>
                <a:cs typeface="Trebuchet MS"/>
              </a:rPr>
              <a:t>chosen</a:t>
            </a:r>
            <a:r>
              <a:rPr dirty="0" sz="2150" spc="1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for</a:t>
            </a:r>
            <a:r>
              <a:rPr dirty="0" sz="2150" spc="2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35">
                <a:solidFill>
                  <a:srgbClr val="CFCBBE"/>
                </a:solidFill>
                <a:latin typeface="Trebuchet MS"/>
                <a:cs typeface="Trebuchet MS"/>
              </a:rPr>
              <a:t>superior </a:t>
            </a:r>
            <a:r>
              <a:rPr dirty="0" sz="2150" spc="75">
                <a:solidFill>
                  <a:srgbClr val="CFCBBE"/>
                </a:solidFill>
                <a:latin typeface="Trebuchet MS"/>
                <a:cs typeface="Trebuchet MS"/>
              </a:rPr>
              <a:t>reasoning</a:t>
            </a:r>
            <a:r>
              <a:rPr dirty="0" sz="2150" spc="-3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capabilities</a:t>
            </a:r>
            <a:r>
              <a:rPr dirty="0" sz="2150" spc="-3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14">
                <a:solidFill>
                  <a:srgbClr val="CFCBBE"/>
                </a:solidFill>
                <a:latin typeface="Trebuchet MS"/>
                <a:cs typeface="Trebuchet MS"/>
              </a:rPr>
              <a:t>on</a:t>
            </a:r>
            <a:r>
              <a:rPr dirty="0" sz="2150" spc="-3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225">
                <a:solidFill>
                  <a:srgbClr val="CFCBBE"/>
                </a:solidFill>
                <a:latin typeface="Trebuchet MS"/>
                <a:cs typeface="Trebuchet MS"/>
              </a:rPr>
              <a:t>MCQ </a:t>
            </a:r>
            <a:r>
              <a:rPr dirty="0" sz="2150" spc="45">
                <a:solidFill>
                  <a:srgbClr val="CFCBBE"/>
                </a:solidFill>
                <a:latin typeface="Trebuchet MS"/>
                <a:cs typeface="Trebuchet MS"/>
              </a:rPr>
              <a:t>generation</a:t>
            </a:r>
            <a:r>
              <a:rPr dirty="0" sz="2150" spc="-7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95">
                <a:solidFill>
                  <a:srgbClr val="CFCBBE"/>
                </a:solidFill>
                <a:latin typeface="Trebuchet MS"/>
                <a:cs typeface="Trebuchet MS"/>
              </a:rPr>
              <a:t>and</a:t>
            </a:r>
            <a:r>
              <a:rPr dirty="0" sz="2150" spc="-7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90">
                <a:solidFill>
                  <a:srgbClr val="CFCBBE"/>
                </a:solidFill>
                <a:latin typeface="Trebuchet MS"/>
                <a:cs typeface="Trebuchet MS"/>
              </a:rPr>
              <a:t>comprehension</a:t>
            </a:r>
            <a:r>
              <a:rPr dirty="0" sz="2150" spc="-7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45">
                <a:solidFill>
                  <a:srgbClr val="CFCBBE"/>
                </a:solidFill>
                <a:latin typeface="Trebuchet MS"/>
                <a:cs typeface="Trebuchet MS"/>
              </a:rPr>
              <a:t>tasks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508495" y="2834942"/>
            <a:ext cx="4500245" cy="29864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305">
                <a:solidFill>
                  <a:srgbClr val="CFCBBE"/>
                </a:solidFill>
                <a:latin typeface="Calibri"/>
                <a:cs typeface="Calibri"/>
              </a:rPr>
              <a:t>02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05"/>
              </a:spcBef>
            </a:pPr>
            <a:r>
              <a:rPr dirty="0" sz="2750" spc="260">
                <a:solidFill>
                  <a:srgbClr val="CFCBBE"/>
                </a:solidFill>
                <a:latin typeface="Calibri"/>
                <a:cs typeface="Calibri"/>
              </a:rPr>
              <a:t>Supervised</a:t>
            </a:r>
            <a:r>
              <a:rPr dirty="0" sz="2750" spc="6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dirty="0" sz="2750" spc="260">
                <a:solidFill>
                  <a:srgbClr val="CFCBBE"/>
                </a:solidFill>
                <a:latin typeface="Calibri"/>
                <a:cs typeface="Calibri"/>
              </a:rPr>
              <a:t>Fine-</a:t>
            </a:r>
            <a:r>
              <a:rPr dirty="0" sz="2750" spc="280">
                <a:solidFill>
                  <a:srgbClr val="CFCBBE"/>
                </a:solidFill>
                <a:latin typeface="Calibri"/>
                <a:cs typeface="Calibri"/>
              </a:rPr>
              <a:t>Tuning</a:t>
            </a:r>
            <a:endParaRPr sz="2750">
              <a:latin typeface="Calibri"/>
              <a:cs typeface="Calibri"/>
            </a:endParaRPr>
          </a:p>
          <a:p>
            <a:pPr marL="12700" marR="5080">
              <a:lnSpc>
                <a:spcPct val="136600"/>
              </a:lnSpc>
              <a:spcBef>
                <a:spcPts val="785"/>
              </a:spcBef>
            </a:pPr>
            <a:r>
              <a:rPr dirty="0" sz="2150" spc="55">
                <a:solidFill>
                  <a:srgbClr val="CFCBBE"/>
                </a:solidFill>
                <a:latin typeface="Trebuchet MS"/>
                <a:cs typeface="Trebuchet MS"/>
              </a:rPr>
              <a:t>Curated</a:t>
            </a:r>
            <a:r>
              <a:rPr dirty="0" sz="2150" spc="-8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250">
                <a:solidFill>
                  <a:srgbClr val="CFCBBE"/>
                </a:solidFill>
                <a:latin typeface="Trebuchet MS"/>
                <a:cs typeface="Trebuchet MS"/>
              </a:rPr>
              <a:t>MCQ</a:t>
            </a:r>
            <a:r>
              <a:rPr dirty="0" sz="2150" spc="-8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CFCBBE"/>
                </a:solidFill>
                <a:latin typeface="Trebuchet MS"/>
                <a:cs typeface="Trebuchet MS"/>
              </a:rPr>
              <a:t>datasets</a:t>
            </a:r>
            <a:r>
              <a:rPr dirty="0" sz="2150" spc="-8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CFCBBE"/>
                </a:solidFill>
                <a:latin typeface="Trebuchet MS"/>
                <a:cs typeface="Trebuchet MS"/>
              </a:rPr>
              <a:t>applied</a:t>
            </a:r>
            <a:r>
              <a:rPr dirty="0" sz="2150" spc="-8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25">
                <a:solidFill>
                  <a:srgbClr val="CFCBBE"/>
                </a:solidFill>
                <a:latin typeface="Trebuchet MS"/>
                <a:cs typeface="Trebuchet MS"/>
              </a:rPr>
              <a:t>for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instruction</a:t>
            </a:r>
            <a:r>
              <a:rPr dirty="0" sz="2150" spc="4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tuning</a:t>
            </a:r>
            <a:r>
              <a:rPr dirty="0" sz="2150" spc="4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14">
                <a:solidFill>
                  <a:srgbClr val="CFCBBE"/>
                </a:solidFill>
                <a:latin typeface="Trebuchet MS"/>
                <a:cs typeface="Trebuchet MS"/>
              </a:rPr>
              <a:t>on</a:t>
            </a:r>
            <a:r>
              <a:rPr dirty="0" sz="2150" spc="4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50">
                <a:solidFill>
                  <a:srgbClr val="CFCBBE"/>
                </a:solidFill>
                <a:latin typeface="Trebuchet MS"/>
                <a:cs typeface="Trebuchet MS"/>
              </a:rPr>
              <a:t>question </a:t>
            </a:r>
            <a:r>
              <a:rPr dirty="0" sz="2150" spc="45">
                <a:solidFill>
                  <a:srgbClr val="CFCBBE"/>
                </a:solidFill>
                <a:latin typeface="Trebuchet MS"/>
                <a:cs typeface="Trebuchet MS"/>
              </a:rPr>
              <a:t>generation</a:t>
            </a:r>
            <a:r>
              <a:rPr dirty="0" sz="2150" spc="-7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95">
                <a:solidFill>
                  <a:srgbClr val="CFCBBE"/>
                </a:solidFill>
                <a:latin typeface="Trebuchet MS"/>
                <a:cs typeface="Trebuchet MS"/>
              </a:rPr>
              <a:t>and</a:t>
            </a:r>
            <a:r>
              <a:rPr dirty="0" sz="2150" spc="-7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80">
                <a:solidFill>
                  <a:srgbClr val="CFCBBE"/>
                </a:solidFill>
                <a:latin typeface="Trebuchet MS"/>
                <a:cs typeface="Trebuchet MS"/>
              </a:rPr>
              <a:t>answer</a:t>
            </a:r>
            <a:r>
              <a:rPr dirty="0" sz="2150" spc="-6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recognition patterns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037476" y="2834942"/>
            <a:ext cx="5253355" cy="25387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315">
                <a:solidFill>
                  <a:srgbClr val="CFCBBE"/>
                </a:solidFill>
                <a:latin typeface="Calibri"/>
                <a:cs typeface="Calibri"/>
              </a:rPr>
              <a:t>03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05"/>
              </a:spcBef>
            </a:pPr>
            <a:r>
              <a:rPr dirty="0" sz="2750" spc="225">
                <a:solidFill>
                  <a:srgbClr val="CFCBBE"/>
                </a:solidFill>
                <a:latin typeface="Calibri"/>
                <a:cs typeface="Calibri"/>
              </a:rPr>
              <a:t>Parameter-</a:t>
            </a:r>
            <a:r>
              <a:rPr dirty="0" sz="2750" spc="215">
                <a:solidFill>
                  <a:srgbClr val="CFCBBE"/>
                </a:solidFill>
                <a:latin typeface="Calibri"/>
                <a:cs typeface="Calibri"/>
              </a:rPr>
              <a:t>Efficient</a:t>
            </a:r>
            <a:r>
              <a:rPr dirty="0" sz="2750" spc="7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dirty="0" sz="2750" spc="250">
                <a:solidFill>
                  <a:srgbClr val="CFCBBE"/>
                </a:solidFill>
                <a:latin typeface="Calibri"/>
                <a:cs typeface="Calibri"/>
              </a:rPr>
              <a:t>Training</a:t>
            </a:r>
            <a:endParaRPr sz="2750">
              <a:latin typeface="Calibri"/>
              <a:cs typeface="Calibri"/>
            </a:endParaRPr>
          </a:p>
          <a:p>
            <a:pPr marL="12700" marR="5080">
              <a:lnSpc>
                <a:spcPct val="136600"/>
              </a:lnSpc>
              <a:spcBef>
                <a:spcPts val="785"/>
              </a:spcBef>
            </a:pPr>
            <a:r>
              <a:rPr dirty="0" sz="2150" spc="175">
                <a:solidFill>
                  <a:srgbClr val="EDE27D"/>
                </a:solidFill>
                <a:latin typeface="Trebuchet MS"/>
                <a:cs typeface="Trebuchet MS"/>
              </a:rPr>
              <a:t>LoRA</a:t>
            </a:r>
            <a:r>
              <a:rPr dirty="0" sz="2150" spc="-80">
                <a:solidFill>
                  <a:srgbClr val="EDE27D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EDE27D"/>
                </a:solidFill>
                <a:latin typeface="Trebuchet MS"/>
                <a:cs typeface="Trebuchet MS"/>
              </a:rPr>
              <a:t>adapters</a:t>
            </a:r>
            <a:r>
              <a:rPr dirty="0" sz="2150" spc="-70">
                <a:solidFill>
                  <a:srgbClr val="EDE27D"/>
                </a:solidFill>
                <a:latin typeface="Trebuchet MS"/>
                <a:cs typeface="Trebuchet MS"/>
              </a:rPr>
              <a:t> </a:t>
            </a:r>
            <a:r>
              <a:rPr dirty="0" sz="2150" spc="70">
                <a:solidFill>
                  <a:srgbClr val="CFCBBE"/>
                </a:solidFill>
                <a:latin typeface="Trebuchet MS"/>
                <a:cs typeface="Trebuchet MS"/>
              </a:rPr>
              <a:t>implemented</a:t>
            </a:r>
            <a:r>
              <a:rPr dirty="0" sz="2150" spc="-7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to</a:t>
            </a:r>
            <a:r>
              <a:rPr dirty="0" sz="2150" spc="-8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75">
                <a:solidFill>
                  <a:srgbClr val="CFCBBE"/>
                </a:solidFill>
                <a:latin typeface="Trebuchet MS"/>
                <a:cs typeface="Trebuchet MS"/>
              </a:rPr>
              <a:t>reduce </a:t>
            </a:r>
            <a:r>
              <a:rPr dirty="0" sz="2150" spc="160">
                <a:solidFill>
                  <a:srgbClr val="CFCBBE"/>
                </a:solidFill>
                <a:latin typeface="Trebuchet MS"/>
                <a:cs typeface="Trebuchet MS"/>
              </a:rPr>
              <a:t>GPU</a:t>
            </a:r>
            <a:r>
              <a:rPr dirty="0" sz="2150" spc="-6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14">
                <a:solidFill>
                  <a:srgbClr val="CFCBBE"/>
                </a:solidFill>
                <a:latin typeface="Trebuchet MS"/>
                <a:cs typeface="Trebuchet MS"/>
              </a:rPr>
              <a:t>memory</a:t>
            </a:r>
            <a:r>
              <a:rPr dirty="0" sz="2150" spc="-6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footprint</a:t>
            </a:r>
            <a:r>
              <a:rPr dirty="0" sz="2150" spc="-5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while</a:t>
            </a:r>
            <a:r>
              <a:rPr dirty="0" sz="2150" spc="-6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maintaining </a:t>
            </a:r>
            <a:r>
              <a:rPr dirty="0" sz="2150" spc="110">
                <a:solidFill>
                  <a:srgbClr val="CFCBBE"/>
                </a:solidFill>
                <a:latin typeface="Trebuchet MS"/>
                <a:cs typeface="Trebuchet MS"/>
              </a:rPr>
              <a:t>model</a:t>
            </a:r>
            <a:r>
              <a:rPr dirty="0" sz="2150" spc="-8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capacity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79536" y="6420210"/>
            <a:ext cx="7396480" cy="20910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275">
                <a:solidFill>
                  <a:srgbClr val="CFCBBE"/>
                </a:solidFill>
                <a:latin typeface="Calibri"/>
                <a:cs typeface="Calibri"/>
              </a:rPr>
              <a:t>04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05"/>
              </a:spcBef>
            </a:pPr>
            <a:r>
              <a:rPr dirty="0" sz="2750" spc="229">
                <a:solidFill>
                  <a:srgbClr val="CFCBBE"/>
                </a:solidFill>
                <a:latin typeface="Calibri"/>
                <a:cs typeface="Calibri"/>
              </a:rPr>
              <a:t>Preference</a:t>
            </a:r>
            <a:r>
              <a:rPr dirty="0" sz="2750" spc="7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dirty="0" sz="2750" spc="220">
                <a:solidFill>
                  <a:srgbClr val="CFCBBE"/>
                </a:solidFill>
                <a:latin typeface="Calibri"/>
                <a:cs typeface="Calibri"/>
              </a:rPr>
              <a:t>Optimization</a:t>
            </a:r>
            <a:endParaRPr sz="2750">
              <a:latin typeface="Calibri"/>
              <a:cs typeface="Calibri"/>
            </a:endParaRPr>
          </a:p>
          <a:p>
            <a:pPr marL="12700" marR="5080">
              <a:lnSpc>
                <a:spcPct val="136600"/>
              </a:lnSpc>
              <a:spcBef>
                <a:spcPts val="785"/>
              </a:spcBef>
            </a:pP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Optional</a:t>
            </a:r>
            <a:r>
              <a:rPr dirty="0" sz="2150" spc="-4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90">
                <a:solidFill>
                  <a:srgbClr val="EDE27D"/>
                </a:solidFill>
                <a:latin typeface="Trebuchet MS"/>
                <a:cs typeface="Trebuchet MS"/>
              </a:rPr>
              <a:t>DPO</a:t>
            </a:r>
            <a:r>
              <a:rPr dirty="0" sz="2150" spc="-45">
                <a:solidFill>
                  <a:srgbClr val="EDE27D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EDE27D"/>
                </a:solidFill>
                <a:latin typeface="Trebuchet MS"/>
                <a:cs typeface="Trebuchet MS"/>
              </a:rPr>
              <a:t>(Direct</a:t>
            </a:r>
            <a:r>
              <a:rPr dirty="0" sz="2150" spc="-45">
                <a:solidFill>
                  <a:srgbClr val="EDE27D"/>
                </a:solidFill>
                <a:latin typeface="Trebuchet MS"/>
                <a:cs typeface="Trebuchet MS"/>
              </a:rPr>
              <a:t> </a:t>
            </a:r>
            <a:r>
              <a:rPr dirty="0" sz="2150" spc="50">
                <a:solidFill>
                  <a:srgbClr val="EDE27D"/>
                </a:solidFill>
                <a:latin typeface="Trebuchet MS"/>
                <a:cs typeface="Trebuchet MS"/>
              </a:rPr>
              <a:t>Preference</a:t>
            </a:r>
            <a:r>
              <a:rPr dirty="0" sz="2150" spc="-45">
                <a:solidFill>
                  <a:srgbClr val="EDE27D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EDE27D"/>
                </a:solidFill>
                <a:latin typeface="Trebuchet MS"/>
                <a:cs typeface="Trebuchet MS"/>
              </a:rPr>
              <a:t>Optimization)</a:t>
            </a:r>
            <a:r>
              <a:rPr dirty="0" sz="2150" spc="-40">
                <a:solidFill>
                  <a:srgbClr val="EDE27D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CFCBBE"/>
                </a:solidFill>
                <a:latin typeface="Trebuchet MS"/>
                <a:cs typeface="Trebuchet MS"/>
              </a:rPr>
              <a:t>applied</a:t>
            </a:r>
            <a:r>
              <a:rPr dirty="0" sz="2150" spc="-4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25">
                <a:solidFill>
                  <a:srgbClr val="CFCBBE"/>
                </a:solidFill>
                <a:latin typeface="Trebuchet MS"/>
                <a:cs typeface="Trebuchet MS"/>
              </a:rPr>
              <a:t>for </a:t>
            </a:r>
            <a:r>
              <a:rPr dirty="0" sz="2150" spc="50">
                <a:solidFill>
                  <a:srgbClr val="CFCBBE"/>
                </a:solidFill>
                <a:latin typeface="Trebuchet MS"/>
                <a:cs typeface="Trebuchet MS"/>
              </a:rPr>
              <a:t>reward</a:t>
            </a:r>
            <a:r>
              <a:rPr dirty="0" sz="2150" spc="-6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95">
                <a:solidFill>
                  <a:srgbClr val="CFCBBE"/>
                </a:solidFill>
                <a:latin typeface="Trebuchet MS"/>
                <a:cs typeface="Trebuchet MS"/>
              </a:rPr>
              <a:t>modeling</a:t>
            </a:r>
            <a:r>
              <a:rPr dirty="0" sz="2150" spc="-6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95">
                <a:solidFill>
                  <a:srgbClr val="CFCBBE"/>
                </a:solidFill>
                <a:latin typeface="Trebuchet MS"/>
                <a:cs typeface="Trebuchet MS"/>
              </a:rPr>
              <a:t>and</a:t>
            </a:r>
            <a:r>
              <a:rPr dirty="0" sz="2150" spc="-6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00">
                <a:solidFill>
                  <a:srgbClr val="CFCBBE"/>
                </a:solidFill>
                <a:latin typeface="Trebuchet MS"/>
                <a:cs typeface="Trebuchet MS"/>
              </a:rPr>
              <a:t>response</a:t>
            </a:r>
            <a:r>
              <a:rPr dirty="0" sz="2150" spc="-6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quality</a:t>
            </a:r>
            <a:r>
              <a:rPr dirty="0" sz="2150" spc="-6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CFCBBE"/>
                </a:solidFill>
                <a:latin typeface="Trebuchet MS"/>
                <a:cs typeface="Trebuchet MS"/>
              </a:rPr>
              <a:t>improvement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272971" y="6420210"/>
            <a:ext cx="7446009" cy="20910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295">
                <a:solidFill>
                  <a:srgbClr val="CFCBBE"/>
                </a:solidFill>
                <a:latin typeface="Calibri"/>
                <a:cs typeface="Calibri"/>
              </a:rPr>
              <a:t>05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05"/>
              </a:spcBef>
            </a:pPr>
            <a:r>
              <a:rPr dirty="0" sz="2750" spc="480">
                <a:solidFill>
                  <a:srgbClr val="CFCBBE"/>
                </a:solidFill>
                <a:latin typeface="Calibri"/>
                <a:cs typeface="Calibri"/>
              </a:rPr>
              <a:t>AMD</a:t>
            </a:r>
            <a:r>
              <a:rPr dirty="0" sz="2750" spc="45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dirty="0" sz="2750" spc="405">
                <a:solidFill>
                  <a:srgbClr val="CFCBBE"/>
                </a:solidFill>
                <a:latin typeface="Calibri"/>
                <a:cs typeface="Calibri"/>
              </a:rPr>
              <a:t>MI300</a:t>
            </a:r>
            <a:r>
              <a:rPr dirty="0" sz="2750" spc="5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dirty="0" sz="2750" spc="220">
                <a:solidFill>
                  <a:srgbClr val="CFCBBE"/>
                </a:solidFill>
                <a:latin typeface="Calibri"/>
                <a:cs typeface="Calibri"/>
              </a:rPr>
              <a:t>Optimization</a:t>
            </a:r>
            <a:endParaRPr sz="2750">
              <a:latin typeface="Calibri"/>
              <a:cs typeface="Calibri"/>
            </a:endParaRPr>
          </a:p>
          <a:p>
            <a:pPr marL="12700" marR="5080">
              <a:lnSpc>
                <a:spcPct val="136600"/>
              </a:lnSpc>
              <a:spcBef>
                <a:spcPts val="785"/>
              </a:spcBef>
            </a:pP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bfloat16</a:t>
            </a:r>
            <a:r>
              <a:rPr dirty="0" sz="2150" spc="-3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45">
                <a:solidFill>
                  <a:srgbClr val="CFCBBE"/>
                </a:solidFill>
                <a:latin typeface="Trebuchet MS"/>
                <a:cs typeface="Trebuchet MS"/>
              </a:rPr>
              <a:t>precision</a:t>
            </a:r>
            <a:r>
              <a:rPr dirty="0" sz="2150" spc="-1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95">
                <a:solidFill>
                  <a:srgbClr val="CFCBBE"/>
                </a:solidFill>
                <a:latin typeface="Trebuchet MS"/>
                <a:cs typeface="Trebuchet MS"/>
              </a:rPr>
              <a:t>and</a:t>
            </a:r>
            <a:r>
              <a:rPr dirty="0" sz="2150" spc="-1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gradient</a:t>
            </a:r>
            <a:r>
              <a:rPr dirty="0" sz="2150" spc="-1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60">
                <a:solidFill>
                  <a:srgbClr val="CFCBBE"/>
                </a:solidFill>
                <a:latin typeface="Trebuchet MS"/>
                <a:cs typeface="Trebuchet MS"/>
              </a:rPr>
              <a:t>checkpointing</a:t>
            </a:r>
            <a:r>
              <a:rPr dirty="0" sz="2150" spc="-1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80">
                <a:solidFill>
                  <a:srgbClr val="CFCBBE"/>
                </a:solidFill>
                <a:latin typeface="Trebuchet MS"/>
                <a:cs typeface="Trebuchet MS"/>
              </a:rPr>
              <a:t>enabled</a:t>
            </a:r>
            <a:r>
              <a:rPr dirty="0" sz="2150" spc="-1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25">
                <a:solidFill>
                  <a:srgbClr val="CFCBBE"/>
                </a:solidFill>
                <a:latin typeface="Trebuchet MS"/>
                <a:cs typeface="Trebuchet MS"/>
              </a:rPr>
              <a:t>for </a:t>
            </a:r>
            <a:r>
              <a:rPr dirty="0" sz="2150" spc="95">
                <a:solidFill>
                  <a:srgbClr val="CFCBBE"/>
                </a:solidFill>
                <a:latin typeface="Trebuchet MS"/>
                <a:cs typeface="Trebuchet MS"/>
              </a:rPr>
              <a:t>maximum</a:t>
            </a:r>
            <a:r>
              <a:rPr dirty="0" sz="2150" spc="-7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60">
                <a:solidFill>
                  <a:srgbClr val="CFCBBE"/>
                </a:solidFill>
                <a:latin typeface="Trebuchet MS"/>
                <a:cs typeface="Trebuchet MS"/>
              </a:rPr>
              <a:t>throughput</a:t>
            </a:r>
            <a:r>
              <a:rPr dirty="0" sz="2150" spc="-6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14">
                <a:solidFill>
                  <a:srgbClr val="CFCBBE"/>
                </a:solidFill>
                <a:latin typeface="Trebuchet MS"/>
                <a:cs typeface="Trebuchet MS"/>
              </a:rPr>
              <a:t>on</a:t>
            </a:r>
            <a:r>
              <a:rPr dirty="0" sz="2150" spc="-6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target</a:t>
            </a:r>
            <a:r>
              <a:rPr dirty="0" sz="2150" spc="-6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CFCBBE"/>
                </a:solidFill>
                <a:latin typeface="Trebuchet MS"/>
                <a:cs typeface="Trebuchet MS"/>
              </a:rPr>
              <a:t>hardware</a:t>
            </a:r>
            <a:r>
              <a:rPr dirty="0" sz="2150" spc="-6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platform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7088" y="933693"/>
            <a:ext cx="10022840" cy="7397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650" spc="434"/>
              <a:t>Evaluation</a:t>
            </a:r>
            <a:r>
              <a:rPr dirty="0" sz="4650" spc="70"/>
              <a:t> </a:t>
            </a:r>
            <a:r>
              <a:rPr dirty="0" sz="4650" spc="665"/>
              <a:t>&amp;</a:t>
            </a:r>
            <a:r>
              <a:rPr dirty="0" sz="4650" spc="70"/>
              <a:t> </a:t>
            </a:r>
            <a:r>
              <a:rPr dirty="0" sz="4650" spc="495"/>
              <a:t>Scoring</a:t>
            </a:r>
            <a:r>
              <a:rPr dirty="0" sz="4650" spc="70"/>
              <a:t> </a:t>
            </a:r>
            <a:r>
              <a:rPr dirty="0" sz="4650" spc="380"/>
              <a:t>Methodology</a:t>
            </a:r>
            <a:endParaRPr sz="4650"/>
          </a:p>
        </p:txBody>
      </p:sp>
      <p:sp>
        <p:nvSpPr>
          <p:cNvPr id="3" name="object 3" descr=""/>
          <p:cNvSpPr txBox="1"/>
          <p:nvPr/>
        </p:nvSpPr>
        <p:spPr>
          <a:xfrm>
            <a:off x="1071216" y="1784196"/>
            <a:ext cx="4999355" cy="2663190"/>
          </a:xfrm>
          <a:prstGeom prst="rect">
            <a:avLst/>
          </a:prstGeom>
        </p:spPr>
        <p:txBody>
          <a:bodyPr wrap="square" lIns="0" tIns="4191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300"/>
              </a:spcBef>
            </a:pPr>
            <a:r>
              <a:rPr dirty="0" sz="6150" spc="495">
                <a:solidFill>
                  <a:srgbClr val="CFCBBE"/>
                </a:solidFill>
                <a:latin typeface="Calibri"/>
                <a:cs typeface="Calibri"/>
              </a:rPr>
              <a:t>100%</a:t>
            </a:r>
            <a:endParaRPr sz="61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05"/>
              </a:spcBef>
            </a:pPr>
            <a:r>
              <a:rPr dirty="0" sz="2300" spc="215">
                <a:solidFill>
                  <a:srgbClr val="CFCBBE"/>
                </a:solidFill>
                <a:latin typeface="Calibri"/>
                <a:cs typeface="Calibri"/>
              </a:rPr>
              <a:t>Correct</a:t>
            </a:r>
            <a:r>
              <a:rPr dirty="0" sz="2300" spc="4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dirty="0" sz="2300" spc="225">
                <a:solidFill>
                  <a:srgbClr val="CFCBBE"/>
                </a:solidFill>
                <a:latin typeface="Calibri"/>
                <a:cs typeface="Calibri"/>
              </a:rPr>
              <a:t>Answer</a:t>
            </a:r>
            <a:r>
              <a:rPr dirty="0" sz="2300" spc="4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dirty="0" sz="2300" spc="175">
                <a:solidFill>
                  <a:srgbClr val="CFCBBE"/>
                </a:solidFill>
                <a:latin typeface="Calibri"/>
                <a:cs typeface="Calibri"/>
              </a:rPr>
              <a:t>Rate</a:t>
            </a:r>
            <a:endParaRPr sz="2300">
              <a:latin typeface="Calibri"/>
              <a:cs typeface="Calibri"/>
            </a:endParaRPr>
          </a:p>
          <a:p>
            <a:pPr algn="ctr" marL="12065" marR="5080">
              <a:lnSpc>
                <a:spcPct val="121600"/>
              </a:lnSpc>
              <a:spcBef>
                <a:spcPts val="820"/>
              </a:spcBef>
            </a:pPr>
            <a:r>
              <a:rPr dirty="0" sz="1850" spc="60">
                <a:solidFill>
                  <a:srgbClr val="CFCBBE"/>
                </a:solidFill>
                <a:latin typeface="Trebuchet MS"/>
                <a:cs typeface="Trebuchet MS"/>
              </a:rPr>
              <a:t>Percentage</a:t>
            </a:r>
            <a:r>
              <a:rPr dirty="0" sz="1850" spc="-4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of</a:t>
            </a:r>
            <a:r>
              <a:rPr dirty="0" sz="1850" spc="-4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70">
                <a:solidFill>
                  <a:srgbClr val="CFCBBE"/>
                </a:solidFill>
                <a:latin typeface="Trebuchet MS"/>
                <a:cs typeface="Trebuchet MS"/>
              </a:rPr>
              <a:t>opponent</a:t>
            </a:r>
            <a:r>
              <a:rPr dirty="0" sz="1850" spc="-4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60">
                <a:solidFill>
                  <a:srgbClr val="CFCBBE"/>
                </a:solidFill>
                <a:latin typeface="Trebuchet MS"/>
                <a:cs typeface="Trebuchet MS"/>
              </a:rPr>
              <a:t>questions</a:t>
            </a:r>
            <a:r>
              <a:rPr dirty="0" sz="1850" spc="-4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55">
                <a:solidFill>
                  <a:srgbClr val="CFCBBE"/>
                </a:solidFill>
                <a:latin typeface="Trebuchet MS"/>
                <a:cs typeface="Trebuchet MS"/>
              </a:rPr>
              <a:t>answered </a:t>
            </a: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correctly</a:t>
            </a:r>
            <a:r>
              <a:rPr dirty="0" sz="1850" spc="3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110">
                <a:solidFill>
                  <a:srgbClr val="CFCBBE"/>
                </a:solidFill>
                <a:latin typeface="Trebuchet MS"/>
                <a:cs typeface="Trebuchet MS"/>
              </a:rPr>
              <a:t>by</a:t>
            </a:r>
            <a:r>
              <a:rPr dirty="0" sz="1850" spc="3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140">
                <a:solidFill>
                  <a:srgbClr val="CFCBBE"/>
                </a:solidFill>
                <a:latin typeface="Trebuchet MS"/>
                <a:cs typeface="Trebuchet MS"/>
              </a:rPr>
              <a:t>A-</a:t>
            </a:r>
            <a:r>
              <a:rPr dirty="0" sz="1850" spc="65">
                <a:solidFill>
                  <a:srgbClr val="CFCBBE"/>
                </a:solidFill>
                <a:latin typeface="Trebuchet MS"/>
                <a:cs typeface="Trebuchet MS"/>
              </a:rPr>
              <a:t>Agent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761202" y="1784196"/>
            <a:ext cx="4765675" cy="2663190"/>
          </a:xfrm>
          <a:prstGeom prst="rect">
            <a:avLst/>
          </a:prstGeom>
        </p:spPr>
        <p:txBody>
          <a:bodyPr wrap="square" lIns="0" tIns="4191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300"/>
              </a:spcBef>
            </a:pPr>
            <a:r>
              <a:rPr dirty="0" sz="6150" spc="495">
                <a:solidFill>
                  <a:srgbClr val="CFCBBE"/>
                </a:solidFill>
                <a:latin typeface="Calibri"/>
                <a:cs typeface="Calibri"/>
              </a:rPr>
              <a:t>100%</a:t>
            </a:r>
            <a:endParaRPr sz="61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05"/>
              </a:spcBef>
            </a:pPr>
            <a:r>
              <a:rPr dirty="0" sz="2300" spc="204">
                <a:solidFill>
                  <a:srgbClr val="CFCBBE"/>
                </a:solidFill>
                <a:latin typeface="Calibri"/>
                <a:cs typeface="Calibri"/>
              </a:rPr>
              <a:t>Invalid</a:t>
            </a:r>
            <a:r>
              <a:rPr dirty="0" sz="2300" spc="55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dirty="0" sz="2300" spc="195">
                <a:solidFill>
                  <a:srgbClr val="CFCBBE"/>
                </a:solidFill>
                <a:latin typeface="Calibri"/>
                <a:cs typeface="Calibri"/>
              </a:rPr>
              <a:t>Question</a:t>
            </a:r>
            <a:r>
              <a:rPr dirty="0" sz="2300" spc="6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dirty="0" sz="2300" spc="175">
                <a:solidFill>
                  <a:srgbClr val="CFCBBE"/>
                </a:solidFill>
                <a:latin typeface="Calibri"/>
                <a:cs typeface="Calibri"/>
              </a:rPr>
              <a:t>Rate</a:t>
            </a:r>
            <a:endParaRPr sz="2300">
              <a:latin typeface="Calibri"/>
              <a:cs typeface="Calibri"/>
            </a:endParaRPr>
          </a:p>
          <a:p>
            <a:pPr algn="ctr" marL="12700" marR="5080">
              <a:lnSpc>
                <a:spcPct val="121600"/>
              </a:lnSpc>
              <a:spcBef>
                <a:spcPts val="820"/>
              </a:spcBef>
            </a:pPr>
            <a:r>
              <a:rPr dirty="0" sz="1850" spc="60">
                <a:solidFill>
                  <a:srgbClr val="CFCBBE"/>
                </a:solidFill>
                <a:latin typeface="Trebuchet MS"/>
                <a:cs typeface="Trebuchet MS"/>
              </a:rPr>
              <a:t>Percentage</a:t>
            </a:r>
            <a:r>
              <a:rPr dirty="0" sz="1850" spc="-5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of</a:t>
            </a:r>
            <a:r>
              <a:rPr dirty="0" sz="1850" spc="-5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60">
                <a:solidFill>
                  <a:srgbClr val="CFCBBE"/>
                </a:solidFill>
                <a:latin typeface="Trebuchet MS"/>
                <a:cs typeface="Trebuchet MS"/>
              </a:rPr>
              <a:t>questions</a:t>
            </a:r>
            <a:r>
              <a:rPr dirty="0" sz="1850" spc="-4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80">
                <a:solidFill>
                  <a:srgbClr val="CFCBBE"/>
                </a:solidFill>
                <a:latin typeface="Trebuchet MS"/>
                <a:cs typeface="Trebuchet MS"/>
              </a:rPr>
              <a:t>causing</a:t>
            </a:r>
            <a:r>
              <a:rPr dirty="0" sz="1850" spc="-5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50">
                <a:solidFill>
                  <a:srgbClr val="CFCBBE"/>
                </a:solidFill>
                <a:latin typeface="Trebuchet MS"/>
                <a:cs typeface="Trebuchet MS"/>
              </a:rPr>
              <a:t>opponent </a:t>
            </a: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errors</a:t>
            </a:r>
            <a:r>
              <a:rPr dirty="0" sz="1850" spc="-1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110">
                <a:solidFill>
                  <a:srgbClr val="CFCBBE"/>
                </a:solidFill>
                <a:latin typeface="Trebuchet MS"/>
                <a:cs typeface="Trebuchet MS"/>
              </a:rPr>
              <a:t>by</a:t>
            </a:r>
            <a:r>
              <a:rPr dirty="0" sz="1850" spc="-1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130">
                <a:solidFill>
                  <a:srgbClr val="CFCBBE"/>
                </a:solidFill>
                <a:latin typeface="Trebuchet MS"/>
                <a:cs typeface="Trebuchet MS"/>
              </a:rPr>
              <a:t>Q-</a:t>
            </a:r>
            <a:r>
              <a:rPr dirty="0" sz="1850" spc="75">
                <a:solidFill>
                  <a:srgbClr val="CFCBBE"/>
                </a:solidFill>
                <a:latin typeface="Trebuchet MS"/>
                <a:cs typeface="Trebuchet MS"/>
              </a:rPr>
              <a:t>Agent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098783" y="1784196"/>
            <a:ext cx="5236845" cy="2320290"/>
          </a:xfrm>
          <a:prstGeom prst="rect">
            <a:avLst/>
          </a:prstGeom>
        </p:spPr>
        <p:txBody>
          <a:bodyPr wrap="square" lIns="0" tIns="4191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300"/>
              </a:spcBef>
            </a:pPr>
            <a:r>
              <a:rPr dirty="0" sz="6150" spc="810">
                <a:solidFill>
                  <a:srgbClr val="CFCBBE"/>
                </a:solidFill>
                <a:latin typeface="Calibri"/>
                <a:cs typeface="Calibri"/>
              </a:rPr>
              <a:t>50%</a:t>
            </a:r>
            <a:endParaRPr sz="61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05"/>
              </a:spcBef>
            </a:pPr>
            <a:r>
              <a:rPr dirty="0" sz="2300" spc="260">
                <a:solidFill>
                  <a:srgbClr val="CFCBBE"/>
                </a:solidFill>
                <a:latin typeface="Calibri"/>
                <a:cs typeface="Calibri"/>
              </a:rPr>
              <a:t>Minimum</a:t>
            </a:r>
            <a:r>
              <a:rPr dirty="0" sz="2300" spc="4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dirty="0" sz="2300" spc="160">
                <a:solidFill>
                  <a:srgbClr val="CFCBBE"/>
                </a:solidFill>
                <a:latin typeface="Calibri"/>
                <a:cs typeface="Calibri"/>
              </a:rPr>
              <a:t>Validity</a:t>
            </a:r>
            <a:endParaRPr sz="23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300"/>
              </a:spcBef>
            </a:pP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Strict</a:t>
            </a:r>
            <a:r>
              <a:rPr dirty="0" sz="1850" spc="2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lower</a:t>
            </a:r>
            <a:r>
              <a:rPr dirty="0" sz="1850" spc="2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105">
                <a:solidFill>
                  <a:srgbClr val="CFCBBE"/>
                </a:solidFill>
                <a:latin typeface="Trebuchet MS"/>
                <a:cs typeface="Trebuchet MS"/>
              </a:rPr>
              <a:t>bound</a:t>
            </a:r>
            <a:r>
              <a:rPr dirty="0" sz="1850" spc="2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for</a:t>
            </a:r>
            <a:r>
              <a:rPr dirty="0" sz="1850" spc="2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format-correct</a:t>
            </a:r>
            <a:r>
              <a:rPr dirty="0" sz="1850" spc="3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50">
                <a:solidFill>
                  <a:srgbClr val="CFCBBE"/>
                </a:solidFill>
                <a:latin typeface="Trebuchet MS"/>
                <a:cs typeface="Trebuchet MS"/>
              </a:rPr>
              <a:t>questions</a:t>
            </a:r>
            <a:endParaRPr sz="1850">
              <a:latin typeface="Trebuchet MS"/>
              <a:cs typeface="Trebuchet MS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6463" y="5608548"/>
            <a:ext cx="76200" cy="762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6463" y="5951448"/>
            <a:ext cx="76200" cy="762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6463" y="6294348"/>
            <a:ext cx="76200" cy="762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6463" y="6637248"/>
            <a:ext cx="76200" cy="762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6463" y="8201421"/>
            <a:ext cx="76200" cy="762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6463" y="8544321"/>
            <a:ext cx="76200" cy="762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6463" y="8887221"/>
            <a:ext cx="76200" cy="76200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897088" y="4777220"/>
            <a:ext cx="9079230" cy="42849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00" spc="180">
                <a:solidFill>
                  <a:srgbClr val="F1E781"/>
                </a:solidFill>
                <a:latin typeface="Calibri"/>
                <a:cs typeface="Calibri"/>
              </a:rPr>
              <a:t>Validation</a:t>
            </a:r>
            <a:r>
              <a:rPr dirty="0" sz="2300" spc="35">
                <a:solidFill>
                  <a:srgbClr val="F1E781"/>
                </a:solidFill>
                <a:latin typeface="Calibri"/>
                <a:cs typeface="Calibri"/>
              </a:rPr>
              <a:t> </a:t>
            </a:r>
            <a:r>
              <a:rPr dirty="0" sz="2300" spc="195">
                <a:solidFill>
                  <a:srgbClr val="F1E781"/>
                </a:solidFill>
                <a:latin typeface="Calibri"/>
                <a:cs typeface="Calibri"/>
              </a:rPr>
              <a:t>Requirements</a:t>
            </a:r>
            <a:endParaRPr sz="2300">
              <a:latin typeface="Calibri"/>
              <a:cs typeface="Calibri"/>
            </a:endParaRPr>
          </a:p>
          <a:p>
            <a:pPr marL="295275" marR="3917950">
              <a:lnSpc>
                <a:spcPct val="121600"/>
              </a:lnSpc>
              <a:spcBef>
                <a:spcPts val="2245"/>
              </a:spcBef>
            </a:pP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Exact</a:t>
            </a:r>
            <a:r>
              <a:rPr dirty="0" sz="1850" spc="-2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165">
                <a:solidFill>
                  <a:srgbClr val="CFCBBE"/>
                </a:solidFill>
                <a:latin typeface="Trebuchet MS"/>
                <a:cs typeface="Trebuchet MS"/>
              </a:rPr>
              <a:t>JSON</a:t>
            </a:r>
            <a:r>
              <a:rPr dirty="0" sz="1850" spc="-2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105">
                <a:solidFill>
                  <a:srgbClr val="CFCBBE"/>
                </a:solidFill>
                <a:latin typeface="Trebuchet MS"/>
                <a:cs typeface="Trebuchet MS"/>
              </a:rPr>
              <a:t>schema</a:t>
            </a:r>
            <a:r>
              <a:rPr dirty="0" sz="1850" spc="-1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65">
                <a:solidFill>
                  <a:srgbClr val="CFCBBE"/>
                </a:solidFill>
                <a:latin typeface="Trebuchet MS"/>
                <a:cs typeface="Trebuchet MS"/>
              </a:rPr>
              <a:t>compliance</a:t>
            </a:r>
            <a:r>
              <a:rPr dirty="0" sz="1850" spc="-2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45">
                <a:solidFill>
                  <a:srgbClr val="CFCBBE"/>
                </a:solidFill>
                <a:latin typeface="Trebuchet MS"/>
                <a:cs typeface="Trebuchet MS"/>
              </a:rPr>
              <a:t>enforced </a:t>
            </a:r>
            <a:r>
              <a:rPr dirty="0" sz="1850" spc="215">
                <a:solidFill>
                  <a:srgbClr val="CFCBBE"/>
                </a:solidFill>
                <a:latin typeface="Trebuchet MS"/>
                <a:cs typeface="Trebuchet MS"/>
              </a:rPr>
              <a:t>MCQ</a:t>
            </a:r>
            <a:r>
              <a:rPr dirty="0" sz="1850" spc="-6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format</a:t>
            </a:r>
            <a:r>
              <a:rPr dirty="0" sz="1850" spc="-5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80">
                <a:solidFill>
                  <a:srgbClr val="CFCBBE"/>
                </a:solidFill>
                <a:latin typeface="Trebuchet MS"/>
                <a:cs typeface="Trebuchet MS"/>
              </a:rPr>
              <a:t>must</a:t>
            </a:r>
            <a:r>
              <a:rPr dirty="0" sz="1850" spc="-6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45">
                <a:solidFill>
                  <a:srgbClr val="CFCBBE"/>
                </a:solidFill>
                <a:latin typeface="Trebuchet MS"/>
                <a:cs typeface="Trebuchet MS"/>
              </a:rPr>
              <a:t>include</a:t>
            </a:r>
            <a:r>
              <a:rPr dirty="0" sz="1850" spc="-5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170">
                <a:solidFill>
                  <a:srgbClr val="CFCBBE"/>
                </a:solidFill>
                <a:latin typeface="Trebuchet MS"/>
                <a:cs typeface="Trebuchet MS"/>
              </a:rPr>
              <a:t>A/B/C/D</a:t>
            </a:r>
            <a:r>
              <a:rPr dirty="0" sz="1850" spc="-6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CFCBBE"/>
                </a:solidFill>
                <a:latin typeface="Trebuchet MS"/>
                <a:cs typeface="Trebuchet MS"/>
              </a:rPr>
              <a:t>options</a:t>
            </a:r>
            <a:endParaRPr sz="1850">
              <a:latin typeface="Trebuchet MS"/>
              <a:cs typeface="Trebuchet MS"/>
            </a:endParaRPr>
          </a:p>
          <a:p>
            <a:pPr marL="295275" marR="5080">
              <a:lnSpc>
                <a:spcPct val="121600"/>
              </a:lnSpc>
            </a:pP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Automatic</a:t>
            </a:r>
            <a:r>
              <a:rPr dirty="0" sz="1850" spc="9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disqualification</a:t>
            </a:r>
            <a:r>
              <a:rPr dirty="0" sz="1850" spc="9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triggered</a:t>
            </a:r>
            <a:r>
              <a:rPr dirty="0" sz="1850" spc="9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-100">
                <a:solidFill>
                  <a:srgbClr val="CFCBBE"/>
                </a:solidFill>
                <a:latin typeface="Trebuchet MS"/>
                <a:cs typeface="Trebuchet MS"/>
              </a:rPr>
              <a:t>if</a:t>
            </a:r>
            <a:r>
              <a:rPr dirty="0" sz="1850" spc="9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format-correct</a:t>
            </a:r>
            <a:r>
              <a:rPr dirty="0" sz="1850" spc="9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60">
                <a:solidFill>
                  <a:srgbClr val="CFCBBE"/>
                </a:solidFill>
                <a:latin typeface="Trebuchet MS"/>
                <a:cs typeface="Trebuchet MS"/>
              </a:rPr>
              <a:t>questions</a:t>
            </a:r>
            <a:r>
              <a:rPr dirty="0" sz="1850" spc="9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75">
                <a:solidFill>
                  <a:srgbClr val="CFCBBE"/>
                </a:solidFill>
                <a:latin typeface="Trebuchet MS"/>
                <a:cs typeface="Trebuchet MS"/>
              </a:rPr>
              <a:t>drop</a:t>
            </a:r>
            <a:r>
              <a:rPr dirty="0" sz="1850" spc="9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80">
                <a:solidFill>
                  <a:srgbClr val="CFCBBE"/>
                </a:solidFill>
                <a:latin typeface="Trebuchet MS"/>
                <a:cs typeface="Trebuchet MS"/>
              </a:rPr>
              <a:t>below</a:t>
            </a:r>
            <a:r>
              <a:rPr dirty="0" sz="1850" spc="9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90">
                <a:solidFill>
                  <a:srgbClr val="CFCBBE"/>
                </a:solidFill>
                <a:latin typeface="Trebuchet MS"/>
                <a:cs typeface="Trebuchet MS"/>
              </a:rPr>
              <a:t>50% </a:t>
            </a: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String</a:t>
            </a:r>
            <a:r>
              <a:rPr dirty="0" sz="1850" spc="-2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55">
                <a:solidFill>
                  <a:srgbClr val="CFCBBE"/>
                </a:solidFill>
                <a:latin typeface="Trebuchet MS"/>
                <a:cs typeface="Trebuchet MS"/>
              </a:rPr>
              <a:t>matching</a:t>
            </a:r>
            <a:r>
              <a:rPr dirty="0" sz="1850" spc="-2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45">
                <a:solidFill>
                  <a:srgbClr val="CFCBBE"/>
                </a:solidFill>
                <a:latin typeface="Trebuchet MS"/>
                <a:cs typeface="Trebuchet MS"/>
              </a:rPr>
              <a:t>applied</a:t>
            </a:r>
            <a:r>
              <a:rPr dirty="0" sz="1850" spc="-2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for</a:t>
            </a:r>
            <a:r>
              <a:rPr dirty="0" sz="1850" spc="-2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65">
                <a:solidFill>
                  <a:srgbClr val="CFCBBE"/>
                </a:solidFill>
                <a:latin typeface="Trebuchet MS"/>
                <a:cs typeface="Trebuchet MS"/>
              </a:rPr>
              <a:t>answer</a:t>
            </a:r>
            <a:r>
              <a:rPr dirty="0" sz="1850" spc="-2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CFCBBE"/>
                </a:solidFill>
                <a:latin typeface="Trebuchet MS"/>
                <a:cs typeface="Trebuchet MS"/>
              </a:rPr>
              <a:t>verification</a:t>
            </a:r>
            <a:endParaRPr sz="1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2300" spc="175">
                <a:solidFill>
                  <a:srgbClr val="F1E781"/>
                </a:solidFill>
                <a:latin typeface="Calibri"/>
                <a:cs typeface="Calibri"/>
              </a:rPr>
              <a:t>Strategic</a:t>
            </a:r>
            <a:r>
              <a:rPr dirty="0" sz="2300" spc="70">
                <a:solidFill>
                  <a:srgbClr val="F1E781"/>
                </a:solidFill>
                <a:latin typeface="Calibri"/>
                <a:cs typeface="Calibri"/>
              </a:rPr>
              <a:t> </a:t>
            </a:r>
            <a:r>
              <a:rPr dirty="0" sz="2300" spc="190">
                <a:solidFill>
                  <a:srgbClr val="F1E781"/>
                </a:solidFill>
                <a:latin typeface="Calibri"/>
                <a:cs typeface="Calibri"/>
              </a:rPr>
              <a:t>Considerations</a:t>
            </a:r>
            <a:endParaRPr sz="2300">
              <a:latin typeface="Calibri"/>
              <a:cs typeface="Calibri"/>
            </a:endParaRPr>
          </a:p>
          <a:p>
            <a:pPr marL="295275">
              <a:lnSpc>
                <a:spcPct val="100000"/>
              </a:lnSpc>
              <a:spcBef>
                <a:spcPts val="2725"/>
              </a:spcBef>
            </a:pPr>
            <a:r>
              <a:rPr dirty="0" sz="1850" spc="130">
                <a:solidFill>
                  <a:srgbClr val="CFCBBE"/>
                </a:solidFill>
                <a:latin typeface="Trebuchet MS"/>
                <a:cs typeface="Trebuchet MS"/>
              </a:rPr>
              <a:t>Q-</a:t>
            </a:r>
            <a:r>
              <a:rPr dirty="0" sz="1850" spc="85">
                <a:solidFill>
                  <a:srgbClr val="CFCBBE"/>
                </a:solidFill>
                <a:latin typeface="Trebuchet MS"/>
                <a:cs typeface="Trebuchet MS"/>
              </a:rPr>
              <a:t>Agent</a:t>
            </a:r>
            <a:r>
              <a:rPr dirty="0" sz="1850" spc="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70">
                <a:solidFill>
                  <a:srgbClr val="CFCBBE"/>
                </a:solidFill>
                <a:latin typeface="Trebuchet MS"/>
                <a:cs typeface="Trebuchet MS"/>
              </a:rPr>
              <a:t>balances</a:t>
            </a:r>
            <a:r>
              <a:rPr dirty="0" sz="1850" spc="1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CFCBBE"/>
                </a:solidFill>
                <a:latin typeface="Trebuchet MS"/>
                <a:cs typeface="Trebuchet MS"/>
              </a:rPr>
              <a:t>difficulty</a:t>
            </a:r>
            <a:r>
              <a:rPr dirty="0" sz="1850" spc="1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against</a:t>
            </a:r>
            <a:r>
              <a:rPr dirty="0" sz="1850" spc="1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validation</a:t>
            </a:r>
            <a:r>
              <a:rPr dirty="0" sz="1850" spc="1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CFCBBE"/>
                </a:solidFill>
                <a:latin typeface="Trebuchet MS"/>
                <a:cs typeface="Trebuchet MS"/>
              </a:rPr>
              <a:t>reliability</a:t>
            </a:r>
            <a:endParaRPr sz="1850">
              <a:latin typeface="Trebuchet MS"/>
              <a:cs typeface="Trebuchet MS"/>
            </a:endParaRPr>
          </a:p>
          <a:p>
            <a:pPr marL="295275" marR="1411605">
              <a:lnSpc>
                <a:spcPct val="121600"/>
              </a:lnSpc>
            </a:pPr>
            <a:r>
              <a:rPr dirty="0" sz="1850" spc="140">
                <a:solidFill>
                  <a:srgbClr val="CFCBBE"/>
                </a:solidFill>
                <a:latin typeface="Trebuchet MS"/>
                <a:cs typeface="Trebuchet MS"/>
              </a:rPr>
              <a:t>A-</a:t>
            </a:r>
            <a:r>
              <a:rPr dirty="0" sz="1850" spc="85">
                <a:solidFill>
                  <a:srgbClr val="CFCBBE"/>
                </a:solidFill>
                <a:latin typeface="Trebuchet MS"/>
                <a:cs typeface="Trebuchet MS"/>
              </a:rPr>
              <a:t>Agent</a:t>
            </a:r>
            <a:r>
              <a:rPr dirty="0" sz="1850" spc="4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120">
                <a:solidFill>
                  <a:srgbClr val="CFCBBE"/>
                </a:solidFill>
                <a:latin typeface="Trebuchet MS"/>
                <a:cs typeface="Trebuchet MS"/>
              </a:rPr>
              <a:t>uses</a:t>
            </a:r>
            <a:r>
              <a:rPr dirty="0" sz="1850" spc="5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80">
                <a:solidFill>
                  <a:srgbClr val="CFCBBE"/>
                </a:solidFill>
                <a:latin typeface="Trebuchet MS"/>
                <a:cs typeface="Trebuchet MS"/>
              </a:rPr>
              <a:t>low-</a:t>
            </a: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temperature</a:t>
            </a:r>
            <a:r>
              <a:rPr dirty="0" sz="1850" spc="5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75">
                <a:solidFill>
                  <a:srgbClr val="CFCBBE"/>
                </a:solidFill>
                <a:latin typeface="Trebuchet MS"/>
                <a:cs typeface="Trebuchet MS"/>
              </a:rPr>
              <a:t>sampling</a:t>
            </a:r>
            <a:r>
              <a:rPr dirty="0" sz="1850" spc="5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for</a:t>
            </a:r>
            <a:r>
              <a:rPr dirty="0" sz="1850" spc="5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consistent</a:t>
            </a:r>
            <a:r>
              <a:rPr dirty="0" sz="1850" spc="5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CFCBBE"/>
                </a:solidFill>
                <a:latin typeface="Trebuchet MS"/>
                <a:cs typeface="Trebuchet MS"/>
              </a:rPr>
              <a:t>predictions </a:t>
            </a:r>
            <a:r>
              <a:rPr dirty="0" sz="1850" spc="60">
                <a:solidFill>
                  <a:srgbClr val="CFCBBE"/>
                </a:solidFill>
                <a:latin typeface="Trebuchet MS"/>
                <a:cs typeface="Trebuchet MS"/>
              </a:rPr>
              <a:t>Prompt</a:t>
            </a:r>
            <a:r>
              <a:rPr dirty="0" sz="1850" spc="-6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50">
                <a:solidFill>
                  <a:srgbClr val="CFCBBE"/>
                </a:solidFill>
                <a:latin typeface="Trebuchet MS"/>
                <a:cs typeface="Trebuchet MS"/>
              </a:rPr>
              <a:t>engineering</a:t>
            </a:r>
            <a:r>
              <a:rPr dirty="0" sz="1850" spc="-5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-25">
                <a:solidFill>
                  <a:srgbClr val="CFCBBE"/>
                </a:solidFill>
                <a:latin typeface="Trebuchet MS"/>
                <a:cs typeface="Trebuchet MS"/>
              </a:rPr>
              <a:t>critical</a:t>
            </a:r>
            <a:r>
              <a:rPr dirty="0" sz="1850" spc="-5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for</a:t>
            </a:r>
            <a:r>
              <a:rPr dirty="0" sz="1850" spc="-6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>
                <a:solidFill>
                  <a:srgbClr val="CFCBBE"/>
                </a:solidFill>
                <a:latin typeface="Trebuchet MS"/>
                <a:cs typeface="Trebuchet MS"/>
              </a:rPr>
              <a:t>format</a:t>
            </a:r>
            <a:r>
              <a:rPr dirty="0" sz="1850" spc="-5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1850" spc="55">
                <a:solidFill>
                  <a:srgbClr val="CFCBBE"/>
                </a:solidFill>
                <a:latin typeface="Trebuchet MS"/>
                <a:cs typeface="Trebuchet MS"/>
              </a:rPr>
              <a:t>adherence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9536" y="2522549"/>
            <a:ext cx="12875895" cy="873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475"/>
              <a:t>Deliverables</a:t>
            </a:r>
            <a:r>
              <a:rPr dirty="0" spc="85"/>
              <a:t> </a:t>
            </a:r>
            <a:r>
              <a:rPr dirty="0" spc="755"/>
              <a:t>&amp;</a:t>
            </a:r>
            <a:r>
              <a:rPr dirty="0" spc="85"/>
              <a:t> </a:t>
            </a:r>
            <a:r>
              <a:rPr dirty="0" spc="500"/>
              <a:t>Development</a:t>
            </a:r>
            <a:r>
              <a:rPr dirty="0" spc="85"/>
              <a:t> </a:t>
            </a:r>
            <a:r>
              <a:rPr dirty="0" spc="375"/>
              <a:t>Artifacts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7486" y="4589998"/>
            <a:ext cx="85725" cy="8572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7486" y="5037673"/>
            <a:ext cx="85725" cy="8572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7486" y="5485348"/>
            <a:ext cx="85725" cy="857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7486" y="5933023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7486" y="6380698"/>
            <a:ext cx="85725" cy="8572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7486" y="6828373"/>
            <a:ext cx="85725" cy="85725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65"/>
              <a:t>Required</a:t>
            </a:r>
            <a:r>
              <a:rPr dirty="0" spc="50"/>
              <a:t> </a:t>
            </a:r>
            <a:r>
              <a:rPr dirty="0" spc="275"/>
              <a:t>Submission</a:t>
            </a:r>
            <a:r>
              <a:rPr dirty="0" spc="55"/>
              <a:t> </a:t>
            </a:r>
            <a:r>
              <a:rPr dirty="0" spc="254"/>
              <a:t>Components</a:t>
            </a:r>
          </a:p>
          <a:p>
            <a:pPr marL="342265" marR="140335">
              <a:lnSpc>
                <a:spcPct val="136600"/>
              </a:lnSpc>
              <a:spcBef>
                <a:spcPts val="2790"/>
              </a:spcBef>
            </a:pP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Trained</a:t>
            </a:r>
            <a:r>
              <a:rPr dirty="0" sz="2150" spc="-2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45">
                <a:solidFill>
                  <a:srgbClr val="CFCBBE"/>
                </a:solidFill>
                <a:latin typeface="Trebuchet MS"/>
                <a:cs typeface="Trebuchet MS"/>
              </a:rPr>
              <a:t>Q-</a:t>
            </a:r>
            <a:r>
              <a:rPr dirty="0" sz="2150" spc="105">
                <a:solidFill>
                  <a:srgbClr val="CFCBBE"/>
                </a:solidFill>
                <a:latin typeface="Trebuchet MS"/>
                <a:cs typeface="Trebuchet MS"/>
              </a:rPr>
              <a:t>Agent</a:t>
            </a:r>
            <a:r>
              <a:rPr dirty="0" sz="2150" spc="-2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10">
                <a:solidFill>
                  <a:srgbClr val="CFCBBE"/>
                </a:solidFill>
                <a:latin typeface="Trebuchet MS"/>
                <a:cs typeface="Trebuchet MS"/>
              </a:rPr>
              <a:t>model</a:t>
            </a:r>
            <a:r>
              <a:rPr dirty="0" sz="2150" spc="-2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75">
                <a:solidFill>
                  <a:srgbClr val="CFCBBE"/>
                </a:solidFill>
                <a:latin typeface="Trebuchet MS"/>
                <a:cs typeface="Trebuchet MS"/>
              </a:rPr>
              <a:t>weights</a:t>
            </a:r>
            <a:r>
              <a:rPr dirty="0" sz="2150" spc="-2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(adapter-</a:t>
            </a:r>
            <a:r>
              <a:rPr dirty="0" sz="2150" spc="75">
                <a:solidFill>
                  <a:srgbClr val="CFCBBE"/>
                </a:solidFill>
                <a:latin typeface="Trebuchet MS"/>
                <a:cs typeface="Trebuchet MS"/>
              </a:rPr>
              <a:t>only</a:t>
            </a:r>
            <a:r>
              <a:rPr dirty="0" sz="2150" spc="-2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or</a:t>
            </a:r>
            <a:r>
              <a:rPr dirty="0" sz="2150" spc="-2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full</a:t>
            </a:r>
            <a:r>
              <a:rPr dirty="0" sz="2150" spc="-2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checkpoint)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Trained </a:t>
            </a:r>
            <a:r>
              <a:rPr dirty="0" sz="2150" spc="165">
                <a:solidFill>
                  <a:srgbClr val="CFCBBE"/>
                </a:solidFill>
                <a:latin typeface="Trebuchet MS"/>
                <a:cs typeface="Trebuchet MS"/>
              </a:rPr>
              <a:t>A-</a:t>
            </a:r>
            <a:r>
              <a:rPr dirty="0" sz="2150" spc="105">
                <a:solidFill>
                  <a:srgbClr val="CFCBBE"/>
                </a:solidFill>
                <a:latin typeface="Trebuchet MS"/>
                <a:cs typeface="Trebuchet MS"/>
              </a:rPr>
              <a:t>Agent</a:t>
            </a:r>
            <a:r>
              <a:rPr dirty="0" sz="2150" spc="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10">
                <a:solidFill>
                  <a:srgbClr val="CFCBBE"/>
                </a:solidFill>
                <a:latin typeface="Trebuchet MS"/>
                <a:cs typeface="Trebuchet MS"/>
              </a:rPr>
              <a:t>model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75">
                <a:solidFill>
                  <a:srgbClr val="CFCBBE"/>
                </a:solidFill>
                <a:latin typeface="Trebuchet MS"/>
                <a:cs typeface="Trebuchet MS"/>
              </a:rPr>
              <a:t>weights</a:t>
            </a:r>
            <a:r>
              <a:rPr dirty="0" sz="2150" spc="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with</a:t>
            </a:r>
            <a:r>
              <a:rPr dirty="0" sz="2150" spc="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inference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configuration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Training</a:t>
            </a:r>
            <a:r>
              <a:rPr dirty="0" sz="2150" spc="10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scripts</a:t>
            </a:r>
            <a:r>
              <a:rPr dirty="0" sz="2150" spc="114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CFCBBE"/>
                </a:solidFill>
                <a:latin typeface="Trebuchet MS"/>
                <a:cs typeface="Trebuchet MS"/>
              </a:rPr>
              <a:t>including</a:t>
            </a:r>
            <a:r>
              <a:rPr dirty="0" sz="2150" spc="114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80">
                <a:solidFill>
                  <a:srgbClr val="CFCBBE"/>
                </a:solidFill>
                <a:latin typeface="Trebuchet MS"/>
                <a:cs typeface="Trebuchet MS"/>
              </a:rPr>
              <a:t>LoRA/DPO</a:t>
            </a:r>
            <a:r>
              <a:rPr dirty="0" sz="2150" spc="114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implementation</a:t>
            </a:r>
            <a:r>
              <a:rPr dirty="0" sz="2150" spc="12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details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Evaluation</a:t>
            </a:r>
            <a:r>
              <a:rPr dirty="0" sz="2150" spc="10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80">
                <a:solidFill>
                  <a:srgbClr val="CFCBBE"/>
                </a:solidFill>
                <a:latin typeface="Trebuchet MS"/>
                <a:cs typeface="Trebuchet MS"/>
              </a:rPr>
              <a:t>harness</a:t>
            </a:r>
            <a:r>
              <a:rPr dirty="0" sz="2150" spc="11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validating</a:t>
            </a:r>
            <a:r>
              <a:rPr dirty="0" sz="2150" spc="114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format</a:t>
            </a:r>
            <a:r>
              <a:rPr dirty="0" sz="2150" spc="11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CFCBBE"/>
                </a:solidFill>
                <a:latin typeface="Trebuchet MS"/>
                <a:cs typeface="Trebuchet MS"/>
              </a:rPr>
              <a:t>correctness</a:t>
            </a:r>
            <a:endParaRPr sz="2150">
              <a:latin typeface="Trebuchet MS"/>
              <a:cs typeface="Trebuchet MS"/>
            </a:endParaRPr>
          </a:p>
          <a:p>
            <a:pPr marL="342265" marR="5080">
              <a:lnSpc>
                <a:spcPct val="136600"/>
              </a:lnSpc>
            </a:pPr>
            <a:r>
              <a:rPr dirty="0" sz="2150" spc="120">
                <a:solidFill>
                  <a:srgbClr val="CFCBBE"/>
                </a:solidFill>
                <a:latin typeface="Trebuchet MS"/>
                <a:cs typeface="Trebuchet MS"/>
              </a:rPr>
              <a:t>Sample</a:t>
            </a:r>
            <a:r>
              <a:rPr dirty="0" sz="2150" spc="-7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75">
                <a:solidFill>
                  <a:srgbClr val="CFCBBE"/>
                </a:solidFill>
                <a:latin typeface="Trebuchet MS"/>
                <a:cs typeface="Trebuchet MS"/>
              </a:rPr>
              <a:t>question/answer</a:t>
            </a:r>
            <a:r>
              <a:rPr dirty="0" sz="2150" spc="-7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60">
                <a:solidFill>
                  <a:srgbClr val="CFCBBE"/>
                </a:solidFill>
                <a:latin typeface="Trebuchet MS"/>
                <a:cs typeface="Trebuchet MS"/>
              </a:rPr>
              <a:t>outputs</a:t>
            </a:r>
            <a:r>
              <a:rPr dirty="0" sz="2150" spc="-7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60">
                <a:solidFill>
                  <a:srgbClr val="CFCBBE"/>
                </a:solidFill>
                <a:latin typeface="Trebuchet MS"/>
                <a:cs typeface="Trebuchet MS"/>
              </a:rPr>
              <a:t>demonstrating</a:t>
            </a:r>
            <a:r>
              <a:rPr dirty="0" sz="2150" spc="-7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05">
                <a:solidFill>
                  <a:srgbClr val="CFCBBE"/>
                </a:solidFill>
                <a:latin typeface="Trebuchet MS"/>
                <a:cs typeface="Trebuchet MS"/>
              </a:rPr>
              <a:t>system</a:t>
            </a:r>
            <a:r>
              <a:rPr dirty="0" sz="2150" spc="-7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40">
                <a:solidFill>
                  <a:srgbClr val="CFCBBE"/>
                </a:solidFill>
                <a:latin typeface="Trebuchet MS"/>
                <a:cs typeface="Trebuchet MS"/>
              </a:rPr>
              <a:t>behavior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This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technical</a:t>
            </a:r>
            <a:r>
              <a:rPr dirty="0" sz="2150" spc="-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60">
                <a:solidFill>
                  <a:srgbClr val="CFCBBE"/>
                </a:solidFill>
                <a:latin typeface="Trebuchet MS"/>
                <a:cs typeface="Trebuchet MS"/>
              </a:rPr>
              <a:t>documentation</a:t>
            </a:r>
            <a:r>
              <a:rPr dirty="0" sz="2150" spc="-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for</a:t>
            </a:r>
            <a:r>
              <a:rPr dirty="0" sz="2150" spc="-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60">
                <a:solidFill>
                  <a:srgbClr val="CFCBBE"/>
                </a:solidFill>
                <a:latin typeface="Trebuchet MS"/>
                <a:cs typeface="Trebuchet MS"/>
              </a:rPr>
              <a:t>judging</a:t>
            </a:r>
            <a:r>
              <a:rPr dirty="0" sz="2150" spc="-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65">
                <a:solidFill>
                  <a:srgbClr val="CFCBBE"/>
                </a:solidFill>
                <a:latin typeface="Trebuchet MS"/>
                <a:cs typeface="Trebuchet MS"/>
              </a:rPr>
              <a:t>panel</a:t>
            </a:r>
            <a:r>
              <a:rPr dirty="0" sz="2150" spc="-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review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4261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110"/>
              </a:spcBef>
            </a:pPr>
            <a:r>
              <a:rPr dirty="0" spc="459"/>
              <a:t>Competition</a:t>
            </a:r>
            <a:r>
              <a:rPr dirty="0" spc="80"/>
              <a:t> </a:t>
            </a:r>
            <a:r>
              <a:rPr dirty="0" spc="570"/>
              <a:t>Compliance</a:t>
            </a:r>
            <a:r>
              <a:rPr dirty="0" spc="80"/>
              <a:t> </a:t>
            </a:r>
            <a:r>
              <a:rPr dirty="0" spc="665"/>
              <a:t>Summary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54138" y="2646463"/>
            <a:ext cx="5302885" cy="4469765"/>
            <a:chOff x="954138" y="2646463"/>
            <a:chExt cx="5302885" cy="4469765"/>
          </a:xfrm>
        </p:grpSpPr>
        <p:sp>
          <p:nvSpPr>
            <p:cNvPr id="4" name="object 4" descr=""/>
            <p:cNvSpPr/>
            <p:nvPr/>
          </p:nvSpPr>
          <p:spPr>
            <a:xfrm>
              <a:off x="992236" y="2665512"/>
              <a:ext cx="5245735" cy="4431665"/>
            </a:xfrm>
            <a:custGeom>
              <a:avLst/>
              <a:gdLst/>
              <a:ahLst/>
              <a:cxnLst/>
              <a:rect l="l" t="t" r="r" b="b"/>
              <a:pathLst>
                <a:path w="5245735" h="4431665">
                  <a:moveTo>
                    <a:pt x="5062340" y="4431602"/>
                  </a:moveTo>
                  <a:lnTo>
                    <a:pt x="183166" y="4431602"/>
                  </a:lnTo>
                  <a:lnTo>
                    <a:pt x="134475" y="4425066"/>
                  </a:lnTo>
                  <a:lnTo>
                    <a:pt x="90721" y="4406622"/>
                  </a:lnTo>
                  <a:lnTo>
                    <a:pt x="53650" y="4378018"/>
                  </a:lnTo>
                  <a:lnTo>
                    <a:pt x="25008" y="4341002"/>
                  </a:lnTo>
                  <a:lnTo>
                    <a:pt x="6543" y="4297321"/>
                  </a:lnTo>
                  <a:lnTo>
                    <a:pt x="0" y="4248722"/>
                  </a:lnTo>
                  <a:lnTo>
                    <a:pt x="0" y="182879"/>
                  </a:lnTo>
                  <a:lnTo>
                    <a:pt x="6543" y="134276"/>
                  </a:lnTo>
                  <a:lnTo>
                    <a:pt x="25008" y="90593"/>
                  </a:lnTo>
                  <a:lnTo>
                    <a:pt x="53650" y="53578"/>
                  </a:lnTo>
                  <a:lnTo>
                    <a:pt x="90721" y="24976"/>
                  </a:lnTo>
                  <a:lnTo>
                    <a:pt x="134475" y="6535"/>
                  </a:lnTo>
                  <a:lnTo>
                    <a:pt x="183166" y="0"/>
                  </a:lnTo>
                  <a:lnTo>
                    <a:pt x="5062340" y="0"/>
                  </a:lnTo>
                  <a:lnTo>
                    <a:pt x="5111035" y="6535"/>
                  </a:lnTo>
                  <a:lnTo>
                    <a:pt x="5154794" y="24976"/>
                  </a:lnTo>
                  <a:lnTo>
                    <a:pt x="5191869" y="53578"/>
                  </a:lnTo>
                  <a:lnTo>
                    <a:pt x="5220513" y="90593"/>
                  </a:lnTo>
                  <a:lnTo>
                    <a:pt x="5238981" y="134276"/>
                  </a:lnTo>
                  <a:lnTo>
                    <a:pt x="5245525" y="182879"/>
                  </a:lnTo>
                  <a:lnTo>
                    <a:pt x="5245525" y="4248722"/>
                  </a:lnTo>
                  <a:lnTo>
                    <a:pt x="5238981" y="4297321"/>
                  </a:lnTo>
                  <a:lnTo>
                    <a:pt x="5220513" y="4341002"/>
                  </a:lnTo>
                  <a:lnTo>
                    <a:pt x="5191869" y="4378018"/>
                  </a:lnTo>
                  <a:lnTo>
                    <a:pt x="5154794" y="4406622"/>
                  </a:lnTo>
                  <a:lnTo>
                    <a:pt x="5111035" y="4425066"/>
                  </a:lnTo>
                  <a:lnTo>
                    <a:pt x="5062340" y="4431602"/>
                  </a:lnTo>
                  <a:close/>
                </a:path>
              </a:pathLst>
            </a:custGeom>
            <a:solidFill>
              <a:srgbClr val="1B1B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73188" y="2646463"/>
              <a:ext cx="5283835" cy="4469765"/>
            </a:xfrm>
            <a:custGeom>
              <a:avLst/>
              <a:gdLst/>
              <a:ahLst/>
              <a:cxnLst/>
              <a:rect l="l" t="t" r="r" b="b"/>
              <a:pathLst>
                <a:path w="5283835" h="4469765">
                  <a:moveTo>
                    <a:pt x="202208" y="4469701"/>
                  </a:moveTo>
                  <a:lnTo>
                    <a:pt x="201714" y="4469701"/>
                  </a:lnTo>
                  <a:lnTo>
                    <a:pt x="155863" y="4464403"/>
                  </a:lnTo>
                  <a:lnTo>
                    <a:pt x="113306" y="4449238"/>
                  </a:lnTo>
                  <a:lnTo>
                    <a:pt x="75759" y="4425417"/>
                  </a:lnTo>
                  <a:lnTo>
                    <a:pt x="44438" y="4394149"/>
                  </a:lnTo>
                  <a:lnTo>
                    <a:pt x="20560" y="4356645"/>
                  </a:lnTo>
                  <a:lnTo>
                    <a:pt x="5341" y="4314116"/>
                  </a:lnTo>
                  <a:lnTo>
                    <a:pt x="0" y="4267771"/>
                  </a:lnTo>
                  <a:lnTo>
                    <a:pt x="0" y="201928"/>
                  </a:lnTo>
                  <a:lnTo>
                    <a:pt x="5341" y="155623"/>
                  </a:lnTo>
                  <a:lnTo>
                    <a:pt x="20560" y="113119"/>
                  </a:lnTo>
                  <a:lnTo>
                    <a:pt x="44438" y="75626"/>
                  </a:lnTo>
                  <a:lnTo>
                    <a:pt x="75759" y="44356"/>
                  </a:lnTo>
                  <a:lnTo>
                    <a:pt x="113306" y="20520"/>
                  </a:lnTo>
                  <a:lnTo>
                    <a:pt x="155863" y="5331"/>
                  </a:lnTo>
                  <a:lnTo>
                    <a:pt x="202215" y="0"/>
                  </a:lnTo>
                  <a:lnTo>
                    <a:pt x="5081389" y="0"/>
                  </a:lnTo>
                  <a:lnTo>
                    <a:pt x="5081389" y="19048"/>
                  </a:lnTo>
                  <a:lnTo>
                    <a:pt x="202215" y="19048"/>
                  </a:lnTo>
                  <a:lnTo>
                    <a:pt x="202215" y="38098"/>
                  </a:lnTo>
                  <a:lnTo>
                    <a:pt x="158572" y="43950"/>
                  </a:lnTo>
                  <a:lnTo>
                    <a:pt x="119364" y="60465"/>
                  </a:lnTo>
                  <a:lnTo>
                    <a:pt x="86152" y="86081"/>
                  </a:lnTo>
                  <a:lnTo>
                    <a:pt x="60496" y="119238"/>
                  </a:lnTo>
                  <a:lnTo>
                    <a:pt x="43958" y="158374"/>
                  </a:lnTo>
                  <a:lnTo>
                    <a:pt x="38098" y="201928"/>
                  </a:lnTo>
                  <a:lnTo>
                    <a:pt x="38098" y="4267771"/>
                  </a:lnTo>
                  <a:lnTo>
                    <a:pt x="43958" y="4311328"/>
                  </a:lnTo>
                  <a:lnTo>
                    <a:pt x="60496" y="4350465"/>
                  </a:lnTo>
                  <a:lnTo>
                    <a:pt x="86152" y="4383621"/>
                  </a:lnTo>
                  <a:lnTo>
                    <a:pt x="119364" y="4409236"/>
                  </a:lnTo>
                  <a:lnTo>
                    <a:pt x="158572" y="4425750"/>
                  </a:lnTo>
                  <a:lnTo>
                    <a:pt x="202215" y="4431601"/>
                  </a:lnTo>
                  <a:lnTo>
                    <a:pt x="5197894" y="4431601"/>
                  </a:lnTo>
                  <a:lnTo>
                    <a:pt x="5170038" y="4449238"/>
                  </a:lnTo>
                  <a:lnTo>
                    <a:pt x="5166081" y="4450651"/>
                  </a:lnTo>
                  <a:lnTo>
                    <a:pt x="202215" y="4450651"/>
                  </a:lnTo>
                  <a:lnTo>
                    <a:pt x="202208" y="4469701"/>
                  </a:lnTo>
                  <a:close/>
                </a:path>
                <a:path w="5283835" h="4469765">
                  <a:moveTo>
                    <a:pt x="5197894" y="4431601"/>
                  </a:moveTo>
                  <a:lnTo>
                    <a:pt x="5081389" y="4431601"/>
                  </a:lnTo>
                  <a:lnTo>
                    <a:pt x="5125032" y="4425750"/>
                  </a:lnTo>
                  <a:lnTo>
                    <a:pt x="5164243" y="4409236"/>
                  </a:lnTo>
                  <a:lnTo>
                    <a:pt x="5197460" y="4383621"/>
                  </a:lnTo>
                  <a:lnTo>
                    <a:pt x="5223121" y="4350465"/>
                  </a:lnTo>
                  <a:lnTo>
                    <a:pt x="5239662" y="4311328"/>
                  </a:lnTo>
                  <a:lnTo>
                    <a:pt x="5245523" y="4267771"/>
                  </a:lnTo>
                  <a:lnTo>
                    <a:pt x="5245523" y="201928"/>
                  </a:lnTo>
                  <a:lnTo>
                    <a:pt x="5239662" y="158374"/>
                  </a:lnTo>
                  <a:lnTo>
                    <a:pt x="5223121" y="119238"/>
                  </a:lnTo>
                  <a:lnTo>
                    <a:pt x="5197460" y="86081"/>
                  </a:lnTo>
                  <a:lnTo>
                    <a:pt x="5164243" y="60465"/>
                  </a:lnTo>
                  <a:lnTo>
                    <a:pt x="5125032" y="43950"/>
                  </a:lnTo>
                  <a:lnTo>
                    <a:pt x="5081389" y="38098"/>
                  </a:lnTo>
                  <a:lnTo>
                    <a:pt x="202215" y="38098"/>
                  </a:lnTo>
                  <a:lnTo>
                    <a:pt x="202215" y="19048"/>
                  </a:lnTo>
                  <a:lnTo>
                    <a:pt x="5081389" y="19048"/>
                  </a:lnTo>
                  <a:lnTo>
                    <a:pt x="5081389" y="0"/>
                  </a:lnTo>
                  <a:lnTo>
                    <a:pt x="5127739" y="5331"/>
                  </a:lnTo>
                  <a:lnTo>
                    <a:pt x="5170283" y="20520"/>
                  </a:lnTo>
                  <a:lnTo>
                    <a:pt x="5207810" y="44356"/>
                  </a:lnTo>
                  <a:lnTo>
                    <a:pt x="5239107" y="75626"/>
                  </a:lnTo>
                  <a:lnTo>
                    <a:pt x="5262963" y="113119"/>
                  </a:lnTo>
                  <a:lnTo>
                    <a:pt x="5278165" y="155623"/>
                  </a:lnTo>
                  <a:lnTo>
                    <a:pt x="5283501" y="201928"/>
                  </a:lnTo>
                  <a:lnTo>
                    <a:pt x="5283501" y="4267771"/>
                  </a:lnTo>
                  <a:lnTo>
                    <a:pt x="5278144" y="4314116"/>
                  </a:lnTo>
                  <a:lnTo>
                    <a:pt x="5265132" y="4350465"/>
                  </a:lnTo>
                  <a:lnTo>
                    <a:pt x="5238991" y="4394149"/>
                  </a:lnTo>
                  <a:lnTo>
                    <a:pt x="5207634" y="4425417"/>
                  </a:lnTo>
                  <a:lnTo>
                    <a:pt x="5197894" y="4431601"/>
                  </a:lnTo>
                  <a:close/>
                </a:path>
                <a:path w="5283835" h="4469765">
                  <a:moveTo>
                    <a:pt x="5081297" y="4469701"/>
                  </a:moveTo>
                  <a:lnTo>
                    <a:pt x="202215" y="4469701"/>
                  </a:lnTo>
                  <a:lnTo>
                    <a:pt x="202215" y="4450651"/>
                  </a:lnTo>
                  <a:lnTo>
                    <a:pt x="5081297" y="4450651"/>
                  </a:lnTo>
                  <a:lnTo>
                    <a:pt x="5081297" y="4469701"/>
                  </a:lnTo>
                  <a:close/>
                </a:path>
                <a:path w="5283835" h="4469765">
                  <a:moveTo>
                    <a:pt x="5081297" y="4469701"/>
                  </a:moveTo>
                  <a:lnTo>
                    <a:pt x="5081297" y="4450651"/>
                  </a:lnTo>
                  <a:lnTo>
                    <a:pt x="5166081" y="4450651"/>
                  </a:lnTo>
                  <a:lnTo>
                    <a:pt x="5127554" y="4464403"/>
                  </a:lnTo>
                  <a:lnTo>
                    <a:pt x="5127347" y="4464403"/>
                  </a:lnTo>
                  <a:lnTo>
                    <a:pt x="5081297" y="4469701"/>
                  </a:lnTo>
                  <a:close/>
                </a:path>
              </a:pathLst>
            </a:custGeom>
            <a:solidFill>
              <a:srgbClr val="5353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138" y="2665513"/>
              <a:ext cx="152352" cy="443151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415458" y="2930834"/>
            <a:ext cx="4429125" cy="36785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70">
                <a:solidFill>
                  <a:srgbClr val="CFCBBE"/>
                </a:solidFill>
                <a:latin typeface="Calibri"/>
                <a:cs typeface="Calibri"/>
              </a:rPr>
              <a:t>Rule</a:t>
            </a:r>
            <a:r>
              <a:rPr dirty="0" sz="2750" spc="50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dirty="0" sz="2750" spc="245">
                <a:solidFill>
                  <a:srgbClr val="CFCBBE"/>
                </a:solidFill>
                <a:latin typeface="Calibri"/>
                <a:cs typeface="Calibri"/>
              </a:rPr>
              <a:t>Adherence</a:t>
            </a:r>
            <a:endParaRPr sz="2750">
              <a:latin typeface="Calibri"/>
              <a:cs typeface="Calibri"/>
            </a:endParaRPr>
          </a:p>
          <a:p>
            <a:pPr marL="12700" marR="5080">
              <a:lnSpc>
                <a:spcPct val="136600"/>
              </a:lnSpc>
              <a:spcBef>
                <a:spcPts val="780"/>
              </a:spcBef>
            </a:pPr>
            <a:r>
              <a:rPr dirty="0" sz="2150" spc="120">
                <a:solidFill>
                  <a:srgbClr val="CFCBBE"/>
                </a:solidFill>
                <a:latin typeface="Trebuchet MS"/>
                <a:cs typeface="Trebuchet MS"/>
              </a:rPr>
              <a:t>System</a:t>
            </a:r>
            <a:r>
              <a:rPr dirty="0" sz="2150" spc="-6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fully</a:t>
            </a:r>
            <a:r>
              <a:rPr dirty="0" sz="2150" spc="-6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60">
                <a:solidFill>
                  <a:srgbClr val="CFCBBE"/>
                </a:solidFill>
                <a:latin typeface="Trebuchet MS"/>
                <a:cs typeface="Trebuchet MS"/>
              </a:rPr>
              <a:t>implements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competition</a:t>
            </a:r>
            <a:r>
              <a:rPr dirty="0" sz="2150" spc="33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35">
                <a:solidFill>
                  <a:srgbClr val="CFCBBE"/>
                </a:solidFill>
                <a:latin typeface="Trebuchet MS"/>
                <a:cs typeface="Trebuchet MS"/>
              </a:rPr>
              <a:t>requirements </a:t>
            </a:r>
            <a:r>
              <a:rPr dirty="0" sz="2150" spc="55">
                <a:solidFill>
                  <a:srgbClr val="CFCBBE"/>
                </a:solidFill>
                <a:latin typeface="Trebuchet MS"/>
                <a:cs typeface="Trebuchet MS"/>
              </a:rPr>
              <a:t>including</a:t>
            </a:r>
            <a:r>
              <a:rPr dirty="0" sz="2150" spc="2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local</a:t>
            </a:r>
            <a:r>
              <a:rPr dirty="0" sz="2150" spc="2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20">
                <a:solidFill>
                  <a:srgbClr val="CFCBBE"/>
                </a:solidFill>
                <a:latin typeface="Trebuchet MS"/>
                <a:cs typeface="Trebuchet MS"/>
              </a:rPr>
              <a:t>HuggingFace </a:t>
            </a:r>
            <a:r>
              <a:rPr dirty="0" sz="2150" spc="110">
                <a:solidFill>
                  <a:srgbClr val="CFCBBE"/>
                </a:solidFill>
                <a:latin typeface="Trebuchet MS"/>
                <a:cs typeface="Trebuchet MS"/>
              </a:rPr>
              <a:t>model</a:t>
            </a:r>
            <a:r>
              <a:rPr dirty="0" sz="2150" spc="-6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30">
                <a:solidFill>
                  <a:srgbClr val="CFCBBE"/>
                </a:solidFill>
                <a:latin typeface="Trebuchet MS"/>
                <a:cs typeface="Trebuchet MS"/>
              </a:rPr>
              <a:t>restriction,</a:t>
            </a:r>
            <a:r>
              <a:rPr dirty="0" sz="2150" spc="-6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14">
                <a:solidFill>
                  <a:srgbClr val="CFCBBE"/>
                </a:solidFill>
                <a:latin typeface="Trebuchet MS"/>
                <a:cs typeface="Trebuchet MS"/>
              </a:rPr>
              <a:t>no</a:t>
            </a:r>
            <a:r>
              <a:rPr dirty="0" sz="2150" spc="-6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external</a:t>
            </a:r>
            <a:r>
              <a:rPr dirty="0" sz="2150" spc="-6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75">
                <a:solidFill>
                  <a:srgbClr val="CFCBBE"/>
                </a:solidFill>
                <a:latin typeface="Trebuchet MS"/>
                <a:cs typeface="Trebuchet MS"/>
              </a:rPr>
              <a:t>API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calls,</a:t>
            </a:r>
            <a:r>
              <a:rPr dirty="0" sz="2150" spc="-10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85">
                <a:solidFill>
                  <a:srgbClr val="CFCBBE"/>
                </a:solidFill>
                <a:latin typeface="Trebuchet MS"/>
                <a:cs typeface="Trebuchet MS"/>
              </a:rPr>
              <a:t>English-</a:t>
            </a:r>
            <a:r>
              <a:rPr dirty="0" sz="2150" spc="75">
                <a:solidFill>
                  <a:srgbClr val="CFCBBE"/>
                </a:solidFill>
                <a:latin typeface="Trebuchet MS"/>
                <a:cs typeface="Trebuchet MS"/>
              </a:rPr>
              <a:t>only</a:t>
            </a:r>
            <a:r>
              <a:rPr dirty="0" sz="2150" spc="-10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I/O,</a:t>
            </a:r>
            <a:r>
              <a:rPr dirty="0" sz="2150" spc="-10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25">
                <a:solidFill>
                  <a:srgbClr val="CFCBBE"/>
                </a:solidFill>
                <a:latin typeface="Trebuchet MS"/>
                <a:cs typeface="Trebuchet MS"/>
              </a:rPr>
              <a:t>strict</a:t>
            </a:r>
            <a:r>
              <a:rPr dirty="0" sz="2150" spc="-10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70">
                <a:solidFill>
                  <a:srgbClr val="CFCBBE"/>
                </a:solidFill>
                <a:latin typeface="Trebuchet MS"/>
                <a:cs typeface="Trebuchet MS"/>
              </a:rPr>
              <a:t>JSON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validation,</a:t>
            </a:r>
            <a:r>
              <a:rPr dirty="0" sz="2150" spc="-11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95">
                <a:solidFill>
                  <a:srgbClr val="CFCBBE"/>
                </a:solidFill>
                <a:latin typeface="Trebuchet MS"/>
                <a:cs typeface="Trebuchet MS"/>
              </a:rPr>
              <a:t>and</a:t>
            </a:r>
            <a:r>
              <a:rPr dirty="0" sz="2150" spc="-11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75">
                <a:solidFill>
                  <a:srgbClr val="CFCBBE"/>
                </a:solidFill>
                <a:latin typeface="Trebuchet MS"/>
                <a:cs typeface="Trebuchet MS"/>
              </a:rPr>
              <a:t>dual-</a:t>
            </a:r>
            <a:r>
              <a:rPr dirty="0" sz="2150" spc="65">
                <a:solidFill>
                  <a:srgbClr val="CFCBBE"/>
                </a:solidFill>
                <a:latin typeface="Trebuchet MS"/>
                <a:cs typeface="Trebuchet MS"/>
              </a:rPr>
              <a:t>agent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architecture.</a:t>
            </a:r>
            <a:endParaRPr sz="215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483105" y="2646463"/>
            <a:ext cx="5302885" cy="4469765"/>
            <a:chOff x="6483105" y="2646463"/>
            <a:chExt cx="5302885" cy="4469765"/>
          </a:xfrm>
        </p:grpSpPr>
        <p:sp>
          <p:nvSpPr>
            <p:cNvPr id="9" name="object 9" descr=""/>
            <p:cNvSpPr/>
            <p:nvPr/>
          </p:nvSpPr>
          <p:spPr>
            <a:xfrm>
              <a:off x="6521195" y="2665512"/>
              <a:ext cx="5245735" cy="4431665"/>
            </a:xfrm>
            <a:custGeom>
              <a:avLst/>
              <a:gdLst/>
              <a:ahLst/>
              <a:cxnLst/>
              <a:rect l="l" t="t" r="r" b="b"/>
              <a:pathLst>
                <a:path w="5245734" h="4431665">
                  <a:moveTo>
                    <a:pt x="5062361" y="4431602"/>
                  </a:moveTo>
                  <a:lnTo>
                    <a:pt x="183184" y="4431602"/>
                  </a:lnTo>
                  <a:lnTo>
                    <a:pt x="134489" y="4425066"/>
                  </a:lnTo>
                  <a:lnTo>
                    <a:pt x="90731" y="4406622"/>
                  </a:lnTo>
                  <a:lnTo>
                    <a:pt x="53656" y="4378018"/>
                  </a:lnTo>
                  <a:lnTo>
                    <a:pt x="25011" y="4341002"/>
                  </a:lnTo>
                  <a:lnTo>
                    <a:pt x="6544" y="4297321"/>
                  </a:lnTo>
                  <a:lnTo>
                    <a:pt x="0" y="4248722"/>
                  </a:lnTo>
                  <a:lnTo>
                    <a:pt x="0" y="182879"/>
                  </a:lnTo>
                  <a:lnTo>
                    <a:pt x="6544" y="134276"/>
                  </a:lnTo>
                  <a:lnTo>
                    <a:pt x="25011" y="90593"/>
                  </a:lnTo>
                  <a:lnTo>
                    <a:pt x="53656" y="53578"/>
                  </a:lnTo>
                  <a:lnTo>
                    <a:pt x="90731" y="24976"/>
                  </a:lnTo>
                  <a:lnTo>
                    <a:pt x="134489" y="6535"/>
                  </a:lnTo>
                  <a:lnTo>
                    <a:pt x="183184" y="0"/>
                  </a:lnTo>
                  <a:lnTo>
                    <a:pt x="5062361" y="0"/>
                  </a:lnTo>
                  <a:lnTo>
                    <a:pt x="5111054" y="6535"/>
                  </a:lnTo>
                  <a:lnTo>
                    <a:pt x="5154807" y="24976"/>
                  </a:lnTo>
                  <a:lnTo>
                    <a:pt x="5191875" y="53578"/>
                  </a:lnTo>
                  <a:lnTo>
                    <a:pt x="5220512" y="90593"/>
                  </a:lnTo>
                  <a:lnTo>
                    <a:pt x="5238974" y="134276"/>
                  </a:lnTo>
                  <a:lnTo>
                    <a:pt x="5245516" y="182879"/>
                  </a:lnTo>
                  <a:lnTo>
                    <a:pt x="5245516" y="4248722"/>
                  </a:lnTo>
                  <a:lnTo>
                    <a:pt x="5238974" y="4297321"/>
                  </a:lnTo>
                  <a:lnTo>
                    <a:pt x="5220512" y="4341002"/>
                  </a:lnTo>
                  <a:lnTo>
                    <a:pt x="5191875" y="4378018"/>
                  </a:lnTo>
                  <a:lnTo>
                    <a:pt x="5154807" y="4406622"/>
                  </a:lnTo>
                  <a:lnTo>
                    <a:pt x="5111054" y="4425066"/>
                  </a:lnTo>
                  <a:lnTo>
                    <a:pt x="5062361" y="4431602"/>
                  </a:lnTo>
                  <a:close/>
                </a:path>
              </a:pathLst>
            </a:custGeom>
            <a:solidFill>
              <a:srgbClr val="1B1B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502155" y="2646463"/>
              <a:ext cx="5283835" cy="4469765"/>
            </a:xfrm>
            <a:custGeom>
              <a:avLst/>
              <a:gdLst/>
              <a:ahLst/>
              <a:cxnLst/>
              <a:rect l="l" t="t" r="r" b="b"/>
              <a:pathLst>
                <a:path w="5283834" h="4469765">
                  <a:moveTo>
                    <a:pt x="202218" y="4469701"/>
                  </a:moveTo>
                  <a:lnTo>
                    <a:pt x="201724" y="4469701"/>
                  </a:lnTo>
                  <a:lnTo>
                    <a:pt x="155867" y="4464403"/>
                  </a:lnTo>
                  <a:lnTo>
                    <a:pt x="113306" y="4449238"/>
                  </a:lnTo>
                  <a:lnTo>
                    <a:pt x="75755" y="4425417"/>
                  </a:lnTo>
                  <a:lnTo>
                    <a:pt x="44432" y="4394149"/>
                  </a:lnTo>
                  <a:lnTo>
                    <a:pt x="20553" y="4356645"/>
                  </a:lnTo>
                  <a:lnTo>
                    <a:pt x="5333" y="4314116"/>
                  </a:lnTo>
                  <a:lnTo>
                    <a:pt x="0" y="4267771"/>
                  </a:lnTo>
                  <a:lnTo>
                    <a:pt x="0" y="201928"/>
                  </a:lnTo>
                  <a:lnTo>
                    <a:pt x="5333" y="155623"/>
                  </a:lnTo>
                  <a:lnTo>
                    <a:pt x="20553" y="113119"/>
                  </a:lnTo>
                  <a:lnTo>
                    <a:pt x="44432" y="75626"/>
                  </a:lnTo>
                  <a:lnTo>
                    <a:pt x="75755" y="44356"/>
                  </a:lnTo>
                  <a:lnTo>
                    <a:pt x="113306" y="20520"/>
                  </a:lnTo>
                  <a:lnTo>
                    <a:pt x="155867" y="5331"/>
                  </a:lnTo>
                  <a:lnTo>
                    <a:pt x="202224" y="0"/>
                  </a:lnTo>
                  <a:lnTo>
                    <a:pt x="5081402" y="0"/>
                  </a:lnTo>
                  <a:lnTo>
                    <a:pt x="5081402" y="19048"/>
                  </a:lnTo>
                  <a:lnTo>
                    <a:pt x="202224" y="19048"/>
                  </a:lnTo>
                  <a:lnTo>
                    <a:pt x="202224" y="38098"/>
                  </a:lnTo>
                  <a:lnTo>
                    <a:pt x="158581" y="43950"/>
                  </a:lnTo>
                  <a:lnTo>
                    <a:pt x="119370" y="60465"/>
                  </a:lnTo>
                  <a:lnTo>
                    <a:pt x="86153" y="86081"/>
                  </a:lnTo>
                  <a:lnTo>
                    <a:pt x="60492" y="119238"/>
                  </a:lnTo>
                  <a:lnTo>
                    <a:pt x="43951" y="158374"/>
                  </a:lnTo>
                  <a:lnTo>
                    <a:pt x="38090" y="201928"/>
                  </a:lnTo>
                  <a:lnTo>
                    <a:pt x="38090" y="4267771"/>
                  </a:lnTo>
                  <a:lnTo>
                    <a:pt x="43951" y="4311328"/>
                  </a:lnTo>
                  <a:lnTo>
                    <a:pt x="60492" y="4350465"/>
                  </a:lnTo>
                  <a:lnTo>
                    <a:pt x="86153" y="4383621"/>
                  </a:lnTo>
                  <a:lnTo>
                    <a:pt x="119370" y="4409236"/>
                  </a:lnTo>
                  <a:lnTo>
                    <a:pt x="158581" y="4425750"/>
                  </a:lnTo>
                  <a:lnTo>
                    <a:pt x="202224" y="4431601"/>
                  </a:lnTo>
                  <a:lnTo>
                    <a:pt x="5197894" y="4431601"/>
                  </a:lnTo>
                  <a:lnTo>
                    <a:pt x="5170038" y="4449238"/>
                  </a:lnTo>
                  <a:lnTo>
                    <a:pt x="5166081" y="4450651"/>
                  </a:lnTo>
                  <a:lnTo>
                    <a:pt x="202224" y="4450651"/>
                  </a:lnTo>
                  <a:lnTo>
                    <a:pt x="202218" y="4469701"/>
                  </a:lnTo>
                  <a:close/>
                </a:path>
                <a:path w="5283834" h="4469765">
                  <a:moveTo>
                    <a:pt x="5197894" y="4431601"/>
                  </a:moveTo>
                  <a:lnTo>
                    <a:pt x="5081402" y="4431601"/>
                  </a:lnTo>
                  <a:lnTo>
                    <a:pt x="5125043" y="4425750"/>
                  </a:lnTo>
                  <a:lnTo>
                    <a:pt x="5164248" y="4409236"/>
                  </a:lnTo>
                  <a:lnTo>
                    <a:pt x="5197458" y="4383621"/>
                  </a:lnTo>
                  <a:lnTo>
                    <a:pt x="5223111" y="4350465"/>
                  </a:lnTo>
                  <a:lnTo>
                    <a:pt x="5239647" y="4311328"/>
                  </a:lnTo>
                  <a:lnTo>
                    <a:pt x="5245506" y="4267771"/>
                  </a:lnTo>
                  <a:lnTo>
                    <a:pt x="5245506" y="201928"/>
                  </a:lnTo>
                  <a:lnTo>
                    <a:pt x="5239647" y="158374"/>
                  </a:lnTo>
                  <a:lnTo>
                    <a:pt x="5223111" y="119238"/>
                  </a:lnTo>
                  <a:lnTo>
                    <a:pt x="5197458" y="86081"/>
                  </a:lnTo>
                  <a:lnTo>
                    <a:pt x="5164248" y="60465"/>
                  </a:lnTo>
                  <a:lnTo>
                    <a:pt x="5125043" y="43950"/>
                  </a:lnTo>
                  <a:lnTo>
                    <a:pt x="5081402" y="38098"/>
                  </a:lnTo>
                  <a:lnTo>
                    <a:pt x="202224" y="38098"/>
                  </a:lnTo>
                  <a:lnTo>
                    <a:pt x="202224" y="19048"/>
                  </a:lnTo>
                  <a:lnTo>
                    <a:pt x="5081402" y="19048"/>
                  </a:lnTo>
                  <a:lnTo>
                    <a:pt x="5081402" y="0"/>
                  </a:lnTo>
                  <a:lnTo>
                    <a:pt x="5127742" y="5331"/>
                  </a:lnTo>
                  <a:lnTo>
                    <a:pt x="5170283" y="20520"/>
                  </a:lnTo>
                  <a:lnTo>
                    <a:pt x="5207810" y="44356"/>
                  </a:lnTo>
                  <a:lnTo>
                    <a:pt x="5239111" y="75626"/>
                  </a:lnTo>
                  <a:lnTo>
                    <a:pt x="5262970" y="113119"/>
                  </a:lnTo>
                  <a:lnTo>
                    <a:pt x="5278176" y="155623"/>
                  </a:lnTo>
                  <a:lnTo>
                    <a:pt x="5283514" y="201928"/>
                  </a:lnTo>
                  <a:lnTo>
                    <a:pt x="5283514" y="4267771"/>
                  </a:lnTo>
                  <a:lnTo>
                    <a:pt x="5278156" y="4314116"/>
                  </a:lnTo>
                  <a:lnTo>
                    <a:pt x="5265140" y="4350465"/>
                  </a:lnTo>
                  <a:lnTo>
                    <a:pt x="5238994" y="4394149"/>
                  </a:lnTo>
                  <a:lnTo>
                    <a:pt x="5207634" y="4425417"/>
                  </a:lnTo>
                  <a:lnTo>
                    <a:pt x="5197894" y="4431601"/>
                  </a:lnTo>
                  <a:close/>
                </a:path>
                <a:path w="5283834" h="4469765">
                  <a:moveTo>
                    <a:pt x="5081310" y="4469701"/>
                  </a:moveTo>
                  <a:lnTo>
                    <a:pt x="202224" y="4469701"/>
                  </a:lnTo>
                  <a:lnTo>
                    <a:pt x="202224" y="4450651"/>
                  </a:lnTo>
                  <a:lnTo>
                    <a:pt x="5081310" y="4450651"/>
                  </a:lnTo>
                  <a:lnTo>
                    <a:pt x="5081310" y="4469701"/>
                  </a:lnTo>
                  <a:close/>
                </a:path>
                <a:path w="5283834" h="4469765">
                  <a:moveTo>
                    <a:pt x="5081310" y="4469701"/>
                  </a:moveTo>
                  <a:lnTo>
                    <a:pt x="5081310" y="4450651"/>
                  </a:lnTo>
                  <a:lnTo>
                    <a:pt x="5166081" y="4450651"/>
                  </a:lnTo>
                  <a:lnTo>
                    <a:pt x="5127557" y="4464403"/>
                  </a:lnTo>
                  <a:lnTo>
                    <a:pt x="5127350" y="4464403"/>
                  </a:lnTo>
                  <a:lnTo>
                    <a:pt x="5081310" y="4469701"/>
                  </a:lnTo>
                  <a:close/>
                </a:path>
              </a:pathLst>
            </a:custGeom>
            <a:solidFill>
              <a:srgbClr val="5353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83105" y="2665513"/>
              <a:ext cx="152352" cy="4431510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6944421" y="2930834"/>
            <a:ext cx="4135120" cy="2783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95">
                <a:solidFill>
                  <a:srgbClr val="CFCBBE"/>
                </a:solidFill>
                <a:latin typeface="Calibri"/>
                <a:cs typeface="Calibri"/>
              </a:rPr>
              <a:t>Hardware</a:t>
            </a:r>
            <a:r>
              <a:rPr dirty="0" sz="2750" spc="35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dirty="0" sz="2750" spc="220">
                <a:solidFill>
                  <a:srgbClr val="CFCBBE"/>
                </a:solidFill>
                <a:latin typeface="Calibri"/>
                <a:cs typeface="Calibri"/>
              </a:rPr>
              <a:t>Optimization</a:t>
            </a:r>
            <a:endParaRPr sz="2750">
              <a:latin typeface="Calibri"/>
              <a:cs typeface="Calibri"/>
            </a:endParaRPr>
          </a:p>
          <a:p>
            <a:pPr marL="12700" marR="5080">
              <a:lnSpc>
                <a:spcPct val="136600"/>
              </a:lnSpc>
              <a:spcBef>
                <a:spcPts val="780"/>
              </a:spcBef>
            </a:pP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Training</a:t>
            </a:r>
            <a:r>
              <a:rPr dirty="0" sz="2150" spc="6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95">
                <a:solidFill>
                  <a:srgbClr val="CFCBBE"/>
                </a:solidFill>
                <a:latin typeface="Trebuchet MS"/>
                <a:cs typeface="Trebuchet MS"/>
              </a:rPr>
              <a:t>and</a:t>
            </a:r>
            <a:r>
              <a:rPr dirty="0" sz="2150" spc="7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inference</a:t>
            </a:r>
            <a:r>
              <a:rPr dirty="0" sz="2150" spc="8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pipelines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optimized</a:t>
            </a:r>
            <a:r>
              <a:rPr dirty="0" sz="2150" spc="-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for </a:t>
            </a:r>
            <a:r>
              <a:rPr dirty="0" sz="2150" spc="275">
                <a:solidFill>
                  <a:srgbClr val="CFCBBE"/>
                </a:solidFill>
                <a:latin typeface="Trebuchet MS"/>
                <a:cs typeface="Trebuchet MS"/>
              </a:rPr>
              <a:t>AMD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45">
                <a:solidFill>
                  <a:srgbClr val="CFCBBE"/>
                </a:solidFill>
                <a:latin typeface="Trebuchet MS"/>
                <a:cs typeface="Trebuchet MS"/>
              </a:rPr>
              <a:t>MI300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35">
                <a:solidFill>
                  <a:srgbClr val="CFCBBE"/>
                </a:solidFill>
                <a:latin typeface="Trebuchet MS"/>
                <a:cs typeface="Trebuchet MS"/>
              </a:rPr>
              <a:t>GPU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architecture </a:t>
            </a:r>
            <a:r>
              <a:rPr dirty="0" sz="2150" spc="95">
                <a:solidFill>
                  <a:srgbClr val="CFCBBE"/>
                </a:solidFill>
                <a:latin typeface="Trebuchet MS"/>
                <a:cs typeface="Trebuchet MS"/>
              </a:rPr>
              <a:t>using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bfloat16 </a:t>
            </a:r>
            <a:r>
              <a:rPr dirty="0" sz="2150" spc="45">
                <a:solidFill>
                  <a:srgbClr val="CFCBBE"/>
                </a:solidFill>
                <a:latin typeface="Trebuchet MS"/>
                <a:cs typeface="Trebuchet MS"/>
              </a:rPr>
              <a:t>precision</a:t>
            </a:r>
            <a:r>
              <a:rPr dirty="0" sz="2150" spc="-8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95">
                <a:solidFill>
                  <a:srgbClr val="CFCBBE"/>
                </a:solidFill>
                <a:latin typeface="Trebuchet MS"/>
                <a:cs typeface="Trebuchet MS"/>
              </a:rPr>
              <a:t>and</a:t>
            </a:r>
            <a:r>
              <a:rPr dirty="0" sz="2150" spc="-7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14">
                <a:solidFill>
                  <a:srgbClr val="CFCBBE"/>
                </a:solidFill>
                <a:latin typeface="Trebuchet MS"/>
                <a:cs typeface="Trebuchet MS"/>
              </a:rPr>
              <a:t>memory-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efficient </a:t>
            </a:r>
            <a:r>
              <a:rPr dirty="0" sz="2150" spc="175">
                <a:solidFill>
                  <a:srgbClr val="CFCBBE"/>
                </a:solidFill>
                <a:latin typeface="Trebuchet MS"/>
                <a:cs typeface="Trebuchet MS"/>
              </a:rPr>
              <a:t>LoRA</a:t>
            </a:r>
            <a:r>
              <a:rPr dirty="0" sz="2150" spc="9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parameter</a:t>
            </a:r>
            <a:r>
              <a:rPr dirty="0" sz="2150" spc="9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tuning.</a:t>
            </a:r>
            <a:endParaRPr sz="2150">
              <a:latin typeface="Trebuchet MS"/>
              <a:cs typeface="Trebuchet MS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2012062" y="2646463"/>
            <a:ext cx="5302885" cy="4469765"/>
            <a:chOff x="12012062" y="2646463"/>
            <a:chExt cx="5302885" cy="4469765"/>
          </a:xfrm>
        </p:grpSpPr>
        <p:sp>
          <p:nvSpPr>
            <p:cNvPr id="14" name="object 14" descr=""/>
            <p:cNvSpPr/>
            <p:nvPr/>
          </p:nvSpPr>
          <p:spPr>
            <a:xfrm>
              <a:off x="12050176" y="2665512"/>
              <a:ext cx="5245735" cy="4431665"/>
            </a:xfrm>
            <a:custGeom>
              <a:avLst/>
              <a:gdLst/>
              <a:ahLst/>
              <a:cxnLst/>
              <a:rect l="l" t="t" r="r" b="b"/>
              <a:pathLst>
                <a:path w="5245734" h="4431665">
                  <a:moveTo>
                    <a:pt x="5062331" y="4431602"/>
                  </a:moveTo>
                  <a:lnTo>
                    <a:pt x="183154" y="4431602"/>
                  </a:lnTo>
                  <a:lnTo>
                    <a:pt x="134461" y="4425066"/>
                  </a:lnTo>
                  <a:lnTo>
                    <a:pt x="90708" y="4406622"/>
                  </a:lnTo>
                  <a:lnTo>
                    <a:pt x="53640" y="4378018"/>
                  </a:lnTo>
                  <a:lnTo>
                    <a:pt x="25003" y="4341002"/>
                  </a:lnTo>
                  <a:lnTo>
                    <a:pt x="6541" y="4297321"/>
                  </a:lnTo>
                  <a:lnTo>
                    <a:pt x="0" y="4248722"/>
                  </a:lnTo>
                  <a:lnTo>
                    <a:pt x="0" y="182879"/>
                  </a:lnTo>
                  <a:lnTo>
                    <a:pt x="6541" y="134276"/>
                  </a:lnTo>
                  <a:lnTo>
                    <a:pt x="25003" y="90593"/>
                  </a:lnTo>
                  <a:lnTo>
                    <a:pt x="53640" y="53578"/>
                  </a:lnTo>
                  <a:lnTo>
                    <a:pt x="90708" y="24976"/>
                  </a:lnTo>
                  <a:lnTo>
                    <a:pt x="134461" y="6535"/>
                  </a:lnTo>
                  <a:lnTo>
                    <a:pt x="183154" y="0"/>
                  </a:lnTo>
                  <a:lnTo>
                    <a:pt x="5062331" y="0"/>
                  </a:lnTo>
                  <a:lnTo>
                    <a:pt x="5111024" y="6535"/>
                  </a:lnTo>
                  <a:lnTo>
                    <a:pt x="5154777" y="24976"/>
                  </a:lnTo>
                  <a:lnTo>
                    <a:pt x="5191844" y="53578"/>
                  </a:lnTo>
                  <a:lnTo>
                    <a:pt x="5220481" y="90593"/>
                  </a:lnTo>
                  <a:lnTo>
                    <a:pt x="5238943" y="134276"/>
                  </a:lnTo>
                  <a:lnTo>
                    <a:pt x="5245485" y="182879"/>
                  </a:lnTo>
                  <a:lnTo>
                    <a:pt x="5245485" y="4248722"/>
                  </a:lnTo>
                  <a:lnTo>
                    <a:pt x="5238943" y="4297321"/>
                  </a:lnTo>
                  <a:lnTo>
                    <a:pt x="5220481" y="4341002"/>
                  </a:lnTo>
                  <a:lnTo>
                    <a:pt x="5191844" y="4378018"/>
                  </a:lnTo>
                  <a:lnTo>
                    <a:pt x="5154777" y="4406622"/>
                  </a:lnTo>
                  <a:lnTo>
                    <a:pt x="5111024" y="4425066"/>
                  </a:lnTo>
                  <a:lnTo>
                    <a:pt x="5062331" y="4431602"/>
                  </a:lnTo>
                  <a:close/>
                </a:path>
              </a:pathLst>
            </a:custGeom>
            <a:solidFill>
              <a:srgbClr val="1B1B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2031113" y="2646463"/>
              <a:ext cx="5283835" cy="4469765"/>
            </a:xfrm>
            <a:custGeom>
              <a:avLst/>
              <a:gdLst/>
              <a:ahLst/>
              <a:cxnLst/>
              <a:rect l="l" t="t" r="r" b="b"/>
              <a:pathLst>
                <a:path w="5283834" h="4469765">
                  <a:moveTo>
                    <a:pt x="202210" y="4469701"/>
                  </a:moveTo>
                  <a:lnTo>
                    <a:pt x="201717" y="4469701"/>
                  </a:lnTo>
                  <a:lnTo>
                    <a:pt x="155862" y="4464403"/>
                  </a:lnTo>
                  <a:lnTo>
                    <a:pt x="113304" y="4449238"/>
                  </a:lnTo>
                  <a:lnTo>
                    <a:pt x="75760" y="4425417"/>
                  </a:lnTo>
                  <a:lnTo>
                    <a:pt x="44443" y="4394149"/>
                  </a:lnTo>
                  <a:lnTo>
                    <a:pt x="20570" y="4356645"/>
                  </a:lnTo>
                  <a:lnTo>
                    <a:pt x="5354" y="4314116"/>
                  </a:lnTo>
                  <a:lnTo>
                    <a:pt x="0" y="4267771"/>
                  </a:lnTo>
                  <a:lnTo>
                    <a:pt x="0" y="201928"/>
                  </a:lnTo>
                  <a:lnTo>
                    <a:pt x="5354" y="155623"/>
                  </a:lnTo>
                  <a:lnTo>
                    <a:pt x="20570" y="113119"/>
                  </a:lnTo>
                  <a:lnTo>
                    <a:pt x="44443" y="75626"/>
                  </a:lnTo>
                  <a:lnTo>
                    <a:pt x="75760" y="44356"/>
                  </a:lnTo>
                  <a:lnTo>
                    <a:pt x="113304" y="20520"/>
                  </a:lnTo>
                  <a:lnTo>
                    <a:pt x="155862" y="5331"/>
                  </a:lnTo>
                  <a:lnTo>
                    <a:pt x="202217" y="0"/>
                  </a:lnTo>
                  <a:lnTo>
                    <a:pt x="5081394" y="0"/>
                  </a:lnTo>
                  <a:lnTo>
                    <a:pt x="5081394" y="19048"/>
                  </a:lnTo>
                  <a:lnTo>
                    <a:pt x="202217" y="19048"/>
                  </a:lnTo>
                  <a:lnTo>
                    <a:pt x="202217" y="38098"/>
                  </a:lnTo>
                  <a:lnTo>
                    <a:pt x="158576" y="43950"/>
                  </a:lnTo>
                  <a:lnTo>
                    <a:pt x="119370" y="60465"/>
                  </a:lnTo>
                  <a:lnTo>
                    <a:pt x="86161" y="86081"/>
                  </a:lnTo>
                  <a:lnTo>
                    <a:pt x="60508" y="119238"/>
                  </a:lnTo>
                  <a:lnTo>
                    <a:pt x="43972" y="158374"/>
                  </a:lnTo>
                  <a:lnTo>
                    <a:pt x="38113" y="201928"/>
                  </a:lnTo>
                  <a:lnTo>
                    <a:pt x="38113" y="4267771"/>
                  </a:lnTo>
                  <a:lnTo>
                    <a:pt x="43972" y="4311328"/>
                  </a:lnTo>
                  <a:lnTo>
                    <a:pt x="60508" y="4350465"/>
                  </a:lnTo>
                  <a:lnTo>
                    <a:pt x="86161" y="4383621"/>
                  </a:lnTo>
                  <a:lnTo>
                    <a:pt x="119370" y="4409236"/>
                  </a:lnTo>
                  <a:lnTo>
                    <a:pt x="158576" y="4425750"/>
                  </a:lnTo>
                  <a:lnTo>
                    <a:pt x="202217" y="4431601"/>
                  </a:lnTo>
                  <a:lnTo>
                    <a:pt x="5197886" y="4431601"/>
                  </a:lnTo>
                  <a:lnTo>
                    <a:pt x="5170031" y="4449238"/>
                  </a:lnTo>
                  <a:lnTo>
                    <a:pt x="5166074" y="4450651"/>
                  </a:lnTo>
                  <a:lnTo>
                    <a:pt x="202217" y="4450651"/>
                  </a:lnTo>
                  <a:lnTo>
                    <a:pt x="202210" y="4469701"/>
                  </a:lnTo>
                  <a:close/>
                </a:path>
                <a:path w="5283834" h="4469765">
                  <a:moveTo>
                    <a:pt x="5197886" y="4431601"/>
                  </a:moveTo>
                  <a:lnTo>
                    <a:pt x="5081394" y="4431601"/>
                  </a:lnTo>
                  <a:lnTo>
                    <a:pt x="5125035" y="4425750"/>
                  </a:lnTo>
                  <a:lnTo>
                    <a:pt x="5164241" y="4409236"/>
                  </a:lnTo>
                  <a:lnTo>
                    <a:pt x="5197451" y="4383621"/>
                  </a:lnTo>
                  <a:lnTo>
                    <a:pt x="5223104" y="4350465"/>
                  </a:lnTo>
                  <a:lnTo>
                    <a:pt x="5239640" y="4311328"/>
                  </a:lnTo>
                  <a:lnTo>
                    <a:pt x="5245498" y="4267771"/>
                  </a:lnTo>
                  <a:lnTo>
                    <a:pt x="5245498" y="201928"/>
                  </a:lnTo>
                  <a:lnTo>
                    <a:pt x="5239640" y="158374"/>
                  </a:lnTo>
                  <a:lnTo>
                    <a:pt x="5223104" y="119238"/>
                  </a:lnTo>
                  <a:lnTo>
                    <a:pt x="5197451" y="86081"/>
                  </a:lnTo>
                  <a:lnTo>
                    <a:pt x="5164241" y="60465"/>
                  </a:lnTo>
                  <a:lnTo>
                    <a:pt x="5125035" y="43950"/>
                  </a:lnTo>
                  <a:lnTo>
                    <a:pt x="5081394" y="38098"/>
                  </a:lnTo>
                  <a:lnTo>
                    <a:pt x="202217" y="38098"/>
                  </a:lnTo>
                  <a:lnTo>
                    <a:pt x="202217" y="19048"/>
                  </a:lnTo>
                  <a:lnTo>
                    <a:pt x="5081394" y="19048"/>
                  </a:lnTo>
                  <a:lnTo>
                    <a:pt x="5081394" y="0"/>
                  </a:lnTo>
                  <a:lnTo>
                    <a:pt x="5127744" y="5331"/>
                  </a:lnTo>
                  <a:lnTo>
                    <a:pt x="5170289" y="20520"/>
                  </a:lnTo>
                  <a:lnTo>
                    <a:pt x="5207816" y="44356"/>
                  </a:lnTo>
                  <a:lnTo>
                    <a:pt x="5239113" y="75626"/>
                  </a:lnTo>
                  <a:lnTo>
                    <a:pt x="5262968" y="113119"/>
                  </a:lnTo>
                  <a:lnTo>
                    <a:pt x="5278170" y="155623"/>
                  </a:lnTo>
                  <a:lnTo>
                    <a:pt x="5283507" y="201928"/>
                  </a:lnTo>
                  <a:lnTo>
                    <a:pt x="5283507" y="4267771"/>
                  </a:lnTo>
                  <a:lnTo>
                    <a:pt x="5278148" y="4314116"/>
                  </a:lnTo>
                  <a:lnTo>
                    <a:pt x="5265133" y="4350465"/>
                  </a:lnTo>
                  <a:lnTo>
                    <a:pt x="5238987" y="4394149"/>
                  </a:lnTo>
                  <a:lnTo>
                    <a:pt x="5207626" y="4425417"/>
                  </a:lnTo>
                  <a:lnTo>
                    <a:pt x="5197886" y="4431601"/>
                  </a:lnTo>
                  <a:close/>
                </a:path>
                <a:path w="5283834" h="4469765">
                  <a:moveTo>
                    <a:pt x="5081303" y="4469701"/>
                  </a:moveTo>
                  <a:lnTo>
                    <a:pt x="202217" y="4469701"/>
                  </a:lnTo>
                  <a:lnTo>
                    <a:pt x="202217" y="4450651"/>
                  </a:lnTo>
                  <a:lnTo>
                    <a:pt x="5081303" y="4450651"/>
                  </a:lnTo>
                  <a:lnTo>
                    <a:pt x="5081303" y="4469701"/>
                  </a:lnTo>
                  <a:close/>
                </a:path>
                <a:path w="5283834" h="4469765">
                  <a:moveTo>
                    <a:pt x="5081303" y="4469701"/>
                  </a:moveTo>
                  <a:lnTo>
                    <a:pt x="5081303" y="4450651"/>
                  </a:lnTo>
                  <a:lnTo>
                    <a:pt x="5166074" y="4450651"/>
                  </a:lnTo>
                  <a:lnTo>
                    <a:pt x="5127550" y="4464403"/>
                  </a:lnTo>
                  <a:lnTo>
                    <a:pt x="5127343" y="4464403"/>
                  </a:lnTo>
                  <a:lnTo>
                    <a:pt x="5081303" y="4469701"/>
                  </a:lnTo>
                  <a:close/>
                </a:path>
              </a:pathLst>
            </a:custGeom>
            <a:solidFill>
              <a:srgbClr val="5353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12062" y="2665513"/>
              <a:ext cx="152352" cy="4431510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2473371" y="2930834"/>
            <a:ext cx="4435475" cy="3230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40">
                <a:solidFill>
                  <a:srgbClr val="CFCBBE"/>
                </a:solidFill>
                <a:latin typeface="Calibri"/>
                <a:cs typeface="Calibri"/>
              </a:rPr>
              <a:t>Evaluation</a:t>
            </a:r>
            <a:r>
              <a:rPr dirty="0" sz="2750" spc="35">
                <a:solidFill>
                  <a:srgbClr val="CFCBBE"/>
                </a:solidFill>
                <a:latin typeface="Calibri"/>
                <a:cs typeface="Calibri"/>
              </a:rPr>
              <a:t> </a:t>
            </a:r>
            <a:r>
              <a:rPr dirty="0" sz="2750" spc="270">
                <a:solidFill>
                  <a:srgbClr val="CFCBBE"/>
                </a:solidFill>
                <a:latin typeface="Calibri"/>
                <a:cs typeface="Calibri"/>
              </a:rPr>
              <a:t>Ready</a:t>
            </a:r>
            <a:endParaRPr sz="2750">
              <a:latin typeface="Calibri"/>
              <a:cs typeface="Calibri"/>
            </a:endParaRPr>
          </a:p>
          <a:p>
            <a:pPr marL="12700" marR="5080">
              <a:lnSpc>
                <a:spcPct val="136600"/>
              </a:lnSpc>
              <a:spcBef>
                <a:spcPts val="780"/>
              </a:spcBef>
            </a:pP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Validation</a:t>
            </a:r>
            <a:r>
              <a:rPr dirty="0" sz="2150" spc="4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05">
                <a:solidFill>
                  <a:srgbClr val="CFCBBE"/>
                </a:solidFill>
                <a:latin typeface="Trebuchet MS"/>
                <a:cs typeface="Trebuchet MS"/>
              </a:rPr>
              <a:t>methodology</a:t>
            </a:r>
            <a:r>
              <a:rPr dirty="0" sz="2150" spc="4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80">
                <a:solidFill>
                  <a:srgbClr val="CFCBBE"/>
                </a:solidFill>
                <a:latin typeface="Trebuchet MS"/>
                <a:cs typeface="Trebuchet MS"/>
              </a:rPr>
              <a:t>matches </a:t>
            </a:r>
            <a:r>
              <a:rPr dirty="0" sz="2150" spc="60">
                <a:solidFill>
                  <a:srgbClr val="CFCBBE"/>
                </a:solidFill>
                <a:latin typeface="Trebuchet MS"/>
                <a:cs typeface="Trebuchet MS"/>
              </a:rPr>
              <a:t>judging</a:t>
            </a:r>
            <a:r>
              <a:rPr dirty="0" sz="2150" spc="-9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35">
                <a:solidFill>
                  <a:srgbClr val="CFCBBE"/>
                </a:solidFill>
                <a:latin typeface="Trebuchet MS"/>
                <a:cs typeface="Trebuchet MS"/>
              </a:rPr>
              <a:t>criteria</a:t>
            </a:r>
            <a:r>
              <a:rPr dirty="0" sz="2150" spc="-9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with</a:t>
            </a:r>
            <a:r>
              <a:rPr dirty="0" sz="2150" spc="-9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90">
                <a:solidFill>
                  <a:srgbClr val="CFCBBE"/>
                </a:solidFill>
                <a:latin typeface="Trebuchet MS"/>
                <a:cs typeface="Trebuchet MS"/>
              </a:rPr>
              <a:t>JSON</a:t>
            </a:r>
            <a:r>
              <a:rPr dirty="0" sz="2150" spc="-9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114">
                <a:solidFill>
                  <a:srgbClr val="CFCBBE"/>
                </a:solidFill>
                <a:latin typeface="Trebuchet MS"/>
                <a:cs typeface="Trebuchet MS"/>
              </a:rPr>
              <a:t>schema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enforcement,</a:t>
            </a:r>
            <a:r>
              <a:rPr dirty="0" sz="2150" spc="9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250">
                <a:solidFill>
                  <a:srgbClr val="CFCBBE"/>
                </a:solidFill>
                <a:latin typeface="Trebuchet MS"/>
                <a:cs typeface="Trebuchet MS"/>
              </a:rPr>
              <a:t>MCQ</a:t>
            </a:r>
            <a:r>
              <a:rPr dirty="0" sz="2150" spc="9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format </a:t>
            </a:r>
            <a:r>
              <a:rPr dirty="0" sz="2150" spc="45">
                <a:solidFill>
                  <a:srgbClr val="CFCBBE"/>
                </a:solidFill>
                <a:latin typeface="Trebuchet MS"/>
                <a:cs typeface="Trebuchet MS"/>
              </a:rPr>
              <a:t>checking,</a:t>
            </a:r>
            <a:r>
              <a:rPr dirty="0" sz="2150" spc="-8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95">
                <a:solidFill>
                  <a:srgbClr val="CFCBBE"/>
                </a:solidFill>
                <a:latin typeface="Trebuchet MS"/>
                <a:cs typeface="Trebuchet MS"/>
              </a:rPr>
              <a:t>and</a:t>
            </a:r>
            <a:r>
              <a:rPr dirty="0" sz="2150" spc="-8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automatic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disqualification</a:t>
            </a:r>
            <a:r>
              <a:rPr dirty="0" sz="2150" spc="-3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70">
                <a:solidFill>
                  <a:srgbClr val="CFCBBE"/>
                </a:solidFill>
                <a:latin typeface="Trebuchet MS"/>
                <a:cs typeface="Trebuchet MS"/>
              </a:rPr>
              <a:t>logic</a:t>
            </a:r>
            <a:r>
              <a:rPr dirty="0" sz="2150" spc="-30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CFCBBE"/>
                </a:solidFill>
                <a:latin typeface="Trebuchet MS"/>
                <a:cs typeface="Trebuchet MS"/>
              </a:rPr>
              <a:t>for</a:t>
            </a:r>
            <a:r>
              <a:rPr dirty="0" sz="2150" spc="-35">
                <a:solidFill>
                  <a:srgbClr val="CFCBBE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CFCBBE"/>
                </a:solidFill>
                <a:latin typeface="Trebuchet MS"/>
                <a:cs typeface="Trebuchet MS"/>
              </a:rPr>
              <a:t>format violations.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2802413" y="7784255"/>
            <a:ext cx="4539615" cy="1093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000" spc="1580">
                <a:solidFill>
                  <a:srgbClr val="F1E781"/>
                </a:solidFill>
                <a:latin typeface="Calibri"/>
                <a:cs typeface="Calibri"/>
              </a:rPr>
              <a:t>THE</a:t>
            </a:r>
            <a:r>
              <a:rPr dirty="0" sz="7000" spc="100">
                <a:solidFill>
                  <a:srgbClr val="F1E781"/>
                </a:solidFill>
                <a:latin typeface="Calibri"/>
                <a:cs typeface="Calibri"/>
              </a:rPr>
              <a:t> </a:t>
            </a:r>
            <a:r>
              <a:rPr dirty="0" sz="7000" spc="925">
                <a:solidFill>
                  <a:srgbClr val="F1E781"/>
                </a:solidFill>
                <a:latin typeface="Calibri"/>
                <a:cs typeface="Calibri"/>
              </a:rPr>
              <a:t>END.</a:t>
            </a:r>
            <a:endParaRPr sz="7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YASH RAJ</dc:creator>
  <cp:keywords>DAHBYNnh2Qk,BAEoaJV2aRk,0</cp:keywords>
  <dc:title>AMD-AI-Premier-League.pptx</dc:title>
  <dcterms:created xsi:type="dcterms:W3CDTF">2026-02-15T09:09:01Z</dcterms:created>
  <dcterms:modified xsi:type="dcterms:W3CDTF">2026-02-15T09:09:01Z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2026-02-15T00:00:00Z</vt:filetime>
  </property>
  <property fmtid="{D5CDD505-2E9C-101B-9397-08002B2CF9AE}" pid="5" name="Producer">
    <vt:lpwstr>iLovePDF</vt:lpwstr>
  </property>
</Properties>
</file>